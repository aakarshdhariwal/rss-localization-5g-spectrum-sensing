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4" r:id="rId4"/>
    <p:sldId id="263" r:id="rId5"/>
  </p:sldIdLst>
  <p:sldSz cx="12192000" cy="6858000"/>
  <p:notesSz cx="12192000" cy="6858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04" y="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" name="Textplatzhalter 16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0" y="1628775"/>
            <a:ext cx="12192000" cy="5229225"/>
          </a:xfrm>
          <a:prstGeom prst="rect">
            <a:avLst/>
          </a:prstGeom>
          <a:gradFill>
            <a:gsLst>
              <a:gs pos="5000">
                <a:schemeClr val="accent4"/>
              </a:gs>
              <a:gs pos="50000">
                <a:schemeClr val="accent4">
                  <a:alpha val="50000"/>
                </a:schemeClr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65" name="Bildplatzhalter 6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0" y="1628775"/>
            <a:ext cx="12192000" cy="52292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Willkommen</a:t>
            </a:r>
            <a:endParaRPr/>
          </a:p>
        </p:txBody>
      </p:sp>
      <p:sp>
        <p:nvSpPr>
          <p:cNvPr id="56" name="Rechteck 55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6" name="Freihandform: Form 5"/>
          <p:cNvSpPr/>
          <p:nvPr/>
        </p:nvSpPr>
        <p:spPr bwMode="auto"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/>
          </a:p>
        </p:txBody>
      </p:sp>
      <p:grpSp>
        <p:nvGrpSpPr>
          <p:cNvPr id="57" name="Gruppieren 56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08,70</a:t>
              </a:r>
              <a:endParaRPr/>
            </a:p>
          </p:txBody>
        </p:sp>
      </p:grpSp>
      <p:grpSp>
        <p:nvGrpSpPr>
          <p:cNvPr id="60" name="Gruppieren 59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06,00</a:t>
              </a:r>
              <a:endParaRPr/>
            </a:p>
          </p:txBody>
        </p:sp>
      </p:grpSp>
      <p:grpSp>
        <p:nvGrpSpPr>
          <p:cNvPr id="63" name="Gruppieren 62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05,00</a:t>
              </a:r>
              <a:endParaRPr/>
            </a:p>
          </p:txBody>
        </p:sp>
      </p:grpSp>
      <p:grpSp>
        <p:nvGrpSpPr>
          <p:cNvPr id="66" name="Gruppieren 65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00,00</a:t>
              </a:r>
              <a:endParaRPr/>
            </a:p>
          </p:txBody>
        </p:sp>
      </p:grpSp>
      <p:grpSp>
        <p:nvGrpSpPr>
          <p:cNvPr id="69" name="Gruppieren 68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07,70</a:t>
              </a:r>
              <a:endParaRPr/>
            </a:p>
          </p:txBody>
        </p:sp>
      </p:grpSp>
      <p:grpSp>
        <p:nvGrpSpPr>
          <p:cNvPr id="72" name="Gruppieren 71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08,90</a:t>
              </a:r>
              <a:endParaRPr/>
            </a:p>
          </p:txBody>
        </p:sp>
      </p:grpSp>
      <p:grpSp>
        <p:nvGrpSpPr>
          <p:cNvPr id="75" name="Gruppieren 74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grpSp>
        <p:nvGrpSpPr>
          <p:cNvPr id="78" name="Gruppieren 77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grpSp>
        <p:nvGrpSpPr>
          <p:cNvPr id="81" name="Gruppieren 80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/>
            <p:cNvCxnSpPr>
              <a:cxnSpLocks/>
            </p:cNvCxnSpPr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cxnSp>
        <p:nvCxnSpPr>
          <p:cNvPr id="84" name="Gerader Verbinder 83"/>
          <p:cNvCxnSpPr>
            <a:cxnSpLocks/>
          </p:cNvCxnSpPr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grpSp>
        <p:nvGrpSpPr>
          <p:cNvPr id="139" name="Grafik 3"/>
          <p:cNvGrpSpPr/>
          <p:nvPr userDrawn="1"/>
        </p:nvGrpSpPr>
        <p:grpSpPr bwMode="auto"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140" name="Freihandform: Form 139"/>
            <p:cNvSpPr/>
            <p:nvPr/>
          </p:nvSpPr>
          <p:spPr bwMode="auto">
            <a:xfrm>
              <a:off x="2269806" y="2545079"/>
              <a:ext cx="232408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1" name="Freihandform: Form 140"/>
            <p:cNvSpPr/>
            <p:nvPr/>
          </p:nvSpPr>
          <p:spPr bwMode="auto"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2" name="Freihandform: Form 141"/>
            <p:cNvSpPr/>
            <p:nvPr/>
          </p:nvSpPr>
          <p:spPr bwMode="auto"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3" name="Freihandform: Form 142"/>
            <p:cNvSpPr/>
            <p:nvPr/>
          </p:nvSpPr>
          <p:spPr bwMode="auto"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4" name="Freihandform: Form 143"/>
            <p:cNvSpPr/>
            <p:nvPr/>
          </p:nvSpPr>
          <p:spPr bwMode="auto"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5" name="Freihandform: Form 144"/>
            <p:cNvSpPr/>
            <p:nvPr/>
          </p:nvSpPr>
          <p:spPr bwMode="auto"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6" name="Freihandform: Form 145"/>
            <p:cNvSpPr/>
            <p:nvPr/>
          </p:nvSpPr>
          <p:spPr bwMode="auto"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7" name="Freihandform: Form 146"/>
            <p:cNvSpPr/>
            <p:nvPr/>
          </p:nvSpPr>
          <p:spPr bwMode="auto"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8" name="Freihandform: Form 147"/>
            <p:cNvSpPr/>
            <p:nvPr/>
          </p:nvSpPr>
          <p:spPr bwMode="auto">
            <a:xfrm>
              <a:off x="4129086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9" name="Freihandform: Form 148"/>
            <p:cNvSpPr/>
            <p:nvPr/>
          </p:nvSpPr>
          <p:spPr bwMode="auto"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0" name="Freihandform: Form 149"/>
            <p:cNvSpPr/>
            <p:nvPr/>
          </p:nvSpPr>
          <p:spPr bwMode="auto">
            <a:xfrm>
              <a:off x="4593906" y="2545079"/>
              <a:ext cx="342900" cy="368616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1" name="Freihandform: Form 150"/>
            <p:cNvSpPr/>
            <p:nvPr/>
          </p:nvSpPr>
          <p:spPr bwMode="auto"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2" name="Freihandform: Form 151"/>
            <p:cNvSpPr/>
            <p:nvPr/>
          </p:nvSpPr>
          <p:spPr bwMode="auto"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3" name="Freihandform: Form 152"/>
            <p:cNvSpPr/>
            <p:nvPr/>
          </p:nvSpPr>
          <p:spPr bwMode="auto"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4" name="Freihandform: Form 153"/>
            <p:cNvSpPr/>
            <p:nvPr/>
          </p:nvSpPr>
          <p:spPr bwMode="auto"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5" name="Freihandform: Form 154"/>
            <p:cNvSpPr/>
            <p:nvPr/>
          </p:nvSpPr>
          <p:spPr bwMode="auto"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6" name="Freihandform: Form 155"/>
            <p:cNvSpPr/>
            <p:nvPr/>
          </p:nvSpPr>
          <p:spPr bwMode="auto"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7" name="Freihandform: Form 156"/>
            <p:cNvSpPr/>
            <p:nvPr/>
          </p:nvSpPr>
          <p:spPr bwMode="auto"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8" name="Freihandform: Form 157"/>
            <p:cNvSpPr/>
            <p:nvPr/>
          </p:nvSpPr>
          <p:spPr bwMode="auto"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9" name="Freihandform: Form 158"/>
            <p:cNvSpPr/>
            <p:nvPr/>
          </p:nvSpPr>
          <p:spPr bwMode="auto">
            <a:xfrm>
              <a:off x="7115173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0" name="Freihandform: Form 159"/>
            <p:cNvSpPr/>
            <p:nvPr/>
          </p:nvSpPr>
          <p:spPr bwMode="auto"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1" name="Freihandform: Form 160"/>
            <p:cNvSpPr/>
            <p:nvPr/>
          </p:nvSpPr>
          <p:spPr bwMode="auto"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2" name="Freihandform: Form 161"/>
            <p:cNvSpPr/>
            <p:nvPr/>
          </p:nvSpPr>
          <p:spPr bwMode="auto"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3" name="Freihandform: Form 162"/>
            <p:cNvSpPr/>
            <p:nvPr/>
          </p:nvSpPr>
          <p:spPr bwMode="auto"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4" name="Freihandform: Form 163"/>
            <p:cNvSpPr/>
            <p:nvPr/>
          </p:nvSpPr>
          <p:spPr bwMode="auto"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6" name="Freihandform: Form 165"/>
            <p:cNvSpPr/>
            <p:nvPr/>
          </p:nvSpPr>
          <p:spPr bwMode="auto"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7" name="Freihandform: Form 166"/>
            <p:cNvSpPr/>
            <p:nvPr/>
          </p:nvSpPr>
          <p:spPr bwMode="auto"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9" name="Freihandform: Form 168"/>
            <p:cNvSpPr/>
            <p:nvPr/>
          </p:nvSpPr>
          <p:spPr bwMode="auto"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0" name="Freihandform: Form 169"/>
            <p:cNvSpPr/>
            <p:nvPr/>
          </p:nvSpPr>
          <p:spPr bwMode="auto"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1" name="Freihandform: Form 170"/>
            <p:cNvSpPr/>
            <p:nvPr/>
          </p:nvSpPr>
          <p:spPr bwMode="auto"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2" name="Freihandform: Form 171"/>
            <p:cNvSpPr/>
            <p:nvPr/>
          </p:nvSpPr>
          <p:spPr bwMode="auto"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3" name="Freihandform: Form 172"/>
            <p:cNvSpPr/>
            <p:nvPr/>
          </p:nvSpPr>
          <p:spPr bwMode="auto">
            <a:xfrm>
              <a:off x="2242184" y="3122293"/>
              <a:ext cx="275272" cy="368616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4" name="Freihandform: Form 173"/>
            <p:cNvSpPr/>
            <p:nvPr/>
          </p:nvSpPr>
          <p:spPr bwMode="auto"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5" name="Freihandform: Form 174"/>
            <p:cNvSpPr/>
            <p:nvPr/>
          </p:nvSpPr>
          <p:spPr bwMode="auto"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6" name="Freihandform: Form 175"/>
            <p:cNvSpPr/>
            <p:nvPr/>
          </p:nvSpPr>
          <p:spPr bwMode="auto"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7" name="Freihandform: Form 176"/>
            <p:cNvSpPr/>
            <p:nvPr/>
          </p:nvSpPr>
          <p:spPr bwMode="auto"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8" name="Freihandform: Form 177"/>
            <p:cNvSpPr/>
            <p:nvPr/>
          </p:nvSpPr>
          <p:spPr bwMode="auto"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9" name="Freihandform: Form 178"/>
            <p:cNvSpPr/>
            <p:nvPr/>
          </p:nvSpPr>
          <p:spPr bwMode="auto"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0" name="Freihandform: Form 179"/>
            <p:cNvSpPr/>
            <p:nvPr/>
          </p:nvSpPr>
          <p:spPr bwMode="auto"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1" name="Freihandform: Form 180"/>
            <p:cNvSpPr/>
            <p:nvPr/>
          </p:nvSpPr>
          <p:spPr bwMode="auto"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2" name="Freihandform: Form 181"/>
            <p:cNvSpPr/>
            <p:nvPr/>
          </p:nvSpPr>
          <p:spPr bwMode="auto"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3" name="Freihandform: Form 182"/>
            <p:cNvSpPr/>
            <p:nvPr/>
          </p:nvSpPr>
          <p:spPr bwMode="auto">
            <a:xfrm>
              <a:off x="5130164" y="3122293"/>
              <a:ext cx="231457" cy="368616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4" name="Freihandform: Form 183"/>
            <p:cNvSpPr/>
            <p:nvPr/>
          </p:nvSpPr>
          <p:spPr bwMode="auto"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5" name="Freihandform: Form 184"/>
            <p:cNvSpPr/>
            <p:nvPr/>
          </p:nvSpPr>
          <p:spPr bwMode="auto"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6" name="Freihandform: Form 185"/>
            <p:cNvSpPr/>
            <p:nvPr/>
          </p:nvSpPr>
          <p:spPr bwMode="auto"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7" name="Freihandform: Form 186"/>
            <p:cNvSpPr/>
            <p:nvPr/>
          </p:nvSpPr>
          <p:spPr bwMode="auto"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8" name="Freihandform: Form 187"/>
            <p:cNvSpPr/>
            <p:nvPr/>
          </p:nvSpPr>
          <p:spPr bwMode="auto"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9" name="Freihandform: Form 188"/>
            <p:cNvSpPr/>
            <p:nvPr/>
          </p:nvSpPr>
          <p:spPr bwMode="auto"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90" name="Freihandform: Form 189"/>
            <p:cNvSpPr/>
            <p:nvPr/>
          </p:nvSpPr>
          <p:spPr bwMode="auto"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88" name="Textfeld 87"/>
          <p:cNvSpPr txBox="1"/>
          <p:nvPr userDrawn="1"/>
        </p:nvSpPr>
        <p:spPr bwMode="auto"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1400" b="1"/>
              <a:t>Lehrstuhl Elektrische Smart City Systeme</a:t>
            </a:r>
            <a:endParaRPr/>
          </a:p>
          <a:p>
            <a:pPr>
              <a:defRPr/>
            </a:pPr>
            <a:r>
              <a:rPr lang="de-DE" sz="1400"/>
              <a:t>Nuremberg Campus of Technology (NCT)</a:t>
            </a:r>
            <a:endParaRPr/>
          </a:p>
          <a:p>
            <a:pPr>
              <a:defRPr/>
            </a:pPr>
            <a:endParaRPr lang="de-DE" sz="1400" b="1"/>
          </a:p>
          <a:p>
            <a:pPr>
              <a:defRPr/>
            </a:pPr>
            <a:r>
              <a:rPr lang="de-DE" sz="1400"/>
              <a:t>Prof. Dr.-Ing. </a:t>
            </a:r>
            <a:r>
              <a:rPr lang="de-DE" sz="1400" b="1"/>
              <a:t>Norman Franchi</a:t>
            </a:r>
            <a:endParaRPr/>
          </a:p>
        </p:txBody>
      </p:sp>
      <p:grpSp>
        <p:nvGrpSpPr>
          <p:cNvPr id="89" name="Gruppieren 88"/>
          <p:cNvGrpSpPr/>
          <p:nvPr userDrawn="1"/>
        </p:nvGrpSpPr>
        <p:grpSpPr bwMode="auto"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90" name="Grafik 89"/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/>
          </p:blipFill>
          <p:spPr bwMode="auto"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91" name="Textfeld 90"/>
            <p:cNvSpPr txBox="1"/>
            <p:nvPr/>
          </p:nvSpPr>
          <p:spPr bwMode="auto"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de-DE" sz="900" b="1">
                  <a:latin typeface="Arial"/>
                  <a:cs typeface="Arial"/>
                </a:rPr>
                <a:t>Engineering for Smart Cities</a:t>
              </a:r>
              <a:endParaRPr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C48431E-932F-2344-87BD-EE52D6989E8A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18318" y="235471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02 </a:t>
            </a:r>
            <a:endParaRPr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18318" y="452537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05 </a:t>
            </a:r>
            <a:endParaRPr/>
          </a:p>
        </p:txBody>
      </p:sp>
      <p:sp>
        <p:nvSpPr>
          <p:cNvPr id="17" name="Textplatzhalter 6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18" name="Textplatzhalter 6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18318" y="307826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03 </a:t>
            </a:r>
            <a:endParaRPr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21" name="Textplatzhalter 6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18318" y="380182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04 </a:t>
            </a:r>
            <a:endParaRPr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25" name="Textplatzhalter 6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18318" y="5248930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06 </a:t>
            </a:r>
            <a:endParaRPr/>
          </a:p>
        </p:txBody>
      </p:sp>
      <p:sp>
        <p:nvSpPr>
          <p:cNvPr id="26" name="Textplatzhalter 6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27" name="Textplatzhalter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206332" y="1632184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07 </a:t>
            </a:r>
            <a:endParaRPr/>
          </a:p>
        </p:txBody>
      </p:sp>
      <p:sp>
        <p:nvSpPr>
          <p:cNvPr id="28" name="Textplatzhalter 6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29" name="Textplatzhalter 6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206332" y="2355533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08 </a:t>
            </a:r>
            <a:endParaRPr/>
          </a:p>
        </p:txBody>
      </p:sp>
      <p:sp>
        <p:nvSpPr>
          <p:cNvPr id="30" name="Textplatzhalter 6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31" name="Textplatzhalter 6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11 </a:t>
            </a:r>
            <a:endParaRPr/>
          </a:p>
        </p:txBody>
      </p:sp>
      <p:sp>
        <p:nvSpPr>
          <p:cNvPr id="32" name="Textplatzhalter 6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33" name="Textplatzhalter 6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206332" y="3078882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09 </a:t>
            </a:r>
            <a:endParaRPr/>
          </a:p>
        </p:txBody>
      </p:sp>
      <p:sp>
        <p:nvSpPr>
          <p:cNvPr id="34" name="Textplatzhalter 6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35" name="Textplatzhalter 6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6206332" y="380223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10 </a:t>
            </a:r>
            <a:endParaRPr/>
          </a:p>
        </p:txBody>
      </p:sp>
      <p:sp>
        <p:nvSpPr>
          <p:cNvPr id="36" name="Textplatzhalter 6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</a:p>
        </p:txBody>
      </p:sp>
      <p:sp>
        <p:nvSpPr>
          <p:cNvPr id="37" name="Textplatzhalter 6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206332" y="5248930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12 </a:t>
            </a:r>
            <a:endParaRPr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8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39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40" name="Textplatzhalt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8318" y="163115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01 </a:t>
            </a:r>
            <a:endParaRPr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 | mit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52A704F-9F24-FE42-9772-3896FEF1675B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39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6206329" y="1631156"/>
            <a:ext cx="5469732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40" name="Textplatzhalter 10"/>
          <p:cNvSpPr>
            <a:spLocks noGrp="1"/>
          </p:cNvSpPr>
          <p:nvPr>
            <p:ph type="body" sz="quarter" idx="26"/>
          </p:nvPr>
        </p:nvSpPr>
        <p:spPr bwMode="auto"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26" name="Textplatzhalter 6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518318" y="235471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02 </a:t>
            </a:r>
            <a:endParaRPr/>
          </a:p>
        </p:txBody>
      </p:sp>
      <p:sp>
        <p:nvSpPr>
          <p:cNvPr id="27" name="Textplatzhalter 6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28" name="Textplatzhalter 6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18318" y="452537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05 </a:t>
            </a:r>
            <a:endParaRPr/>
          </a:p>
        </p:txBody>
      </p:sp>
      <p:sp>
        <p:nvSpPr>
          <p:cNvPr id="29" name="Textplatzhalter 6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30" name="Textplatzhalter 6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18318" y="307826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03 </a:t>
            </a:r>
            <a:endParaRPr/>
          </a:p>
        </p:txBody>
      </p:sp>
      <p:sp>
        <p:nvSpPr>
          <p:cNvPr id="31" name="Textplatzhalter 6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32" name="Textplatzhalter 6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18318" y="3801821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04 </a:t>
            </a:r>
            <a:endParaRPr/>
          </a:p>
        </p:txBody>
      </p:sp>
      <p:sp>
        <p:nvSpPr>
          <p:cNvPr id="33" name="Textplatzhalter 6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34" name="Textplatzhalter 6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18318" y="5248930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06 </a:t>
            </a:r>
            <a:endParaRPr/>
          </a:p>
        </p:txBody>
      </p:sp>
      <p:sp>
        <p:nvSpPr>
          <p:cNvPr id="35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>
              <a:defRPr/>
            </a:pPr>
            <a:r>
              <a:rPr lang="de-DE"/>
              <a:t>Agendapunkt / Kapitelthema</a:t>
            </a:r>
            <a:endParaRPr/>
          </a:p>
        </p:txBody>
      </p:sp>
      <p:sp>
        <p:nvSpPr>
          <p:cNvPr id="36" name="Textplatzhalter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18318" y="1631156"/>
            <a:ext cx="320600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01 </a:t>
            </a: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4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Kapiteltrenner</a:t>
            </a:r>
            <a:br>
              <a:rPr lang="de-DE"/>
            </a:br>
            <a:r>
              <a:rPr lang="de-DE"/>
              <a:t>Mehrzeilig möglich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763151F-1944-594E-849F-BF838536C415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57" name="Rechteck 56"/>
          <p:cNvSpPr/>
          <p:nvPr userDrawn="1"/>
        </p:nvSpPr>
        <p:spPr bwMode="auto">
          <a:xfrm>
            <a:off x="517200" y="6538525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59" name="Rechteck 58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60" name="Freihandform: Form 59"/>
          <p:cNvSpPr/>
          <p:nvPr userDrawn="1"/>
        </p:nvSpPr>
        <p:spPr bwMode="auto"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/>
          </a:p>
        </p:txBody>
      </p:sp>
      <p:grpSp>
        <p:nvGrpSpPr>
          <p:cNvPr id="58" name="Gruppieren 57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08,70</a:t>
              </a:r>
              <a:endParaRPr/>
            </a:p>
          </p:txBody>
        </p:sp>
      </p:grpSp>
      <p:grpSp>
        <p:nvGrpSpPr>
          <p:cNvPr id="63" name="Gruppieren 62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06,00</a:t>
              </a:r>
              <a:endParaRPr/>
            </a:p>
          </p:txBody>
        </p:sp>
      </p:grpSp>
      <p:grpSp>
        <p:nvGrpSpPr>
          <p:cNvPr id="66" name="Gruppieren 65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05,00</a:t>
              </a:r>
              <a:endParaRPr/>
            </a:p>
          </p:txBody>
        </p:sp>
      </p:grpSp>
      <p:grpSp>
        <p:nvGrpSpPr>
          <p:cNvPr id="69" name="Gruppieren 68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00,00</a:t>
              </a:r>
              <a:endParaRPr/>
            </a:p>
          </p:txBody>
        </p:sp>
      </p:grpSp>
      <p:grpSp>
        <p:nvGrpSpPr>
          <p:cNvPr id="72" name="Gruppieren 71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07,70</a:t>
              </a:r>
              <a:endParaRPr/>
            </a:p>
          </p:txBody>
        </p:sp>
      </p:grpSp>
      <p:grpSp>
        <p:nvGrpSpPr>
          <p:cNvPr id="75" name="Gruppieren 74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08,90</a:t>
              </a:r>
              <a:endParaRPr/>
            </a:p>
          </p:txBody>
        </p:sp>
      </p:grpSp>
      <p:grpSp>
        <p:nvGrpSpPr>
          <p:cNvPr id="78" name="Gruppieren 77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grpSp>
        <p:nvGrpSpPr>
          <p:cNvPr id="81" name="Gruppieren 80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grpSp>
        <p:nvGrpSpPr>
          <p:cNvPr id="84" name="Gruppieren 83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/>
            <p:cNvCxnSpPr>
              <a:cxnSpLocks/>
            </p:cNvCxnSpPr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cxnSp>
        <p:nvCxnSpPr>
          <p:cNvPr id="87" name="Gerader Verbinder 86"/>
          <p:cNvCxnSpPr>
            <a:cxnSpLocks/>
          </p:cNvCxnSpPr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grpSp>
        <p:nvGrpSpPr>
          <p:cNvPr id="91" name="Grafik 3"/>
          <p:cNvGrpSpPr/>
          <p:nvPr userDrawn="1"/>
        </p:nvGrpSpPr>
        <p:grpSpPr bwMode="auto"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2" name="Freihandform: Form 91"/>
            <p:cNvSpPr/>
            <p:nvPr/>
          </p:nvSpPr>
          <p:spPr bwMode="auto">
            <a:xfrm>
              <a:off x="2269806" y="2545079"/>
              <a:ext cx="232408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3" name="Freihandform: Form 92"/>
            <p:cNvSpPr/>
            <p:nvPr/>
          </p:nvSpPr>
          <p:spPr bwMode="auto"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4" name="Freihandform: Form 93"/>
            <p:cNvSpPr/>
            <p:nvPr/>
          </p:nvSpPr>
          <p:spPr bwMode="auto"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5" name="Freihandform: Form 94"/>
            <p:cNvSpPr/>
            <p:nvPr/>
          </p:nvSpPr>
          <p:spPr bwMode="auto"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6" name="Freihandform: Form 95"/>
            <p:cNvSpPr/>
            <p:nvPr/>
          </p:nvSpPr>
          <p:spPr bwMode="auto"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7" name="Freihandform: Form 96"/>
            <p:cNvSpPr/>
            <p:nvPr/>
          </p:nvSpPr>
          <p:spPr bwMode="auto"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8" name="Freihandform: Form 97"/>
            <p:cNvSpPr/>
            <p:nvPr/>
          </p:nvSpPr>
          <p:spPr bwMode="auto"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9" name="Freihandform: Form 98"/>
            <p:cNvSpPr/>
            <p:nvPr/>
          </p:nvSpPr>
          <p:spPr bwMode="auto"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0" name="Freihandform: Form 99"/>
            <p:cNvSpPr/>
            <p:nvPr/>
          </p:nvSpPr>
          <p:spPr bwMode="auto">
            <a:xfrm>
              <a:off x="4129086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1" name="Freihandform: Form 100"/>
            <p:cNvSpPr/>
            <p:nvPr/>
          </p:nvSpPr>
          <p:spPr bwMode="auto"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2" name="Freihandform: Form 101"/>
            <p:cNvSpPr/>
            <p:nvPr/>
          </p:nvSpPr>
          <p:spPr bwMode="auto">
            <a:xfrm>
              <a:off x="4593906" y="2545079"/>
              <a:ext cx="342900" cy="368616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3" name="Freihandform: Form 102"/>
            <p:cNvSpPr/>
            <p:nvPr/>
          </p:nvSpPr>
          <p:spPr bwMode="auto"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4" name="Freihandform: Form 103"/>
            <p:cNvSpPr/>
            <p:nvPr/>
          </p:nvSpPr>
          <p:spPr bwMode="auto"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5" name="Freihandform: Form 104"/>
            <p:cNvSpPr/>
            <p:nvPr/>
          </p:nvSpPr>
          <p:spPr bwMode="auto"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6" name="Freihandform: Form 105"/>
            <p:cNvSpPr/>
            <p:nvPr/>
          </p:nvSpPr>
          <p:spPr bwMode="auto"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7" name="Freihandform: Form 106"/>
            <p:cNvSpPr/>
            <p:nvPr/>
          </p:nvSpPr>
          <p:spPr bwMode="auto"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8" name="Freihandform: Form 107"/>
            <p:cNvSpPr/>
            <p:nvPr/>
          </p:nvSpPr>
          <p:spPr bwMode="auto"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9" name="Freihandform: Form 108"/>
            <p:cNvSpPr/>
            <p:nvPr/>
          </p:nvSpPr>
          <p:spPr bwMode="auto"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0" name="Freihandform: Form 109"/>
            <p:cNvSpPr/>
            <p:nvPr/>
          </p:nvSpPr>
          <p:spPr bwMode="auto"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1" name="Freihandform: Form 110"/>
            <p:cNvSpPr/>
            <p:nvPr/>
          </p:nvSpPr>
          <p:spPr bwMode="auto">
            <a:xfrm>
              <a:off x="7115173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1" name="Freihandform: Form 160"/>
            <p:cNvSpPr/>
            <p:nvPr/>
          </p:nvSpPr>
          <p:spPr bwMode="auto"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2" name="Freihandform: Form 161"/>
            <p:cNvSpPr/>
            <p:nvPr/>
          </p:nvSpPr>
          <p:spPr bwMode="auto"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3" name="Freihandform: Form 162"/>
            <p:cNvSpPr/>
            <p:nvPr/>
          </p:nvSpPr>
          <p:spPr bwMode="auto"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4" name="Freihandform: Form 163"/>
            <p:cNvSpPr/>
            <p:nvPr/>
          </p:nvSpPr>
          <p:spPr bwMode="auto"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5" name="Freihandform: Form 164"/>
            <p:cNvSpPr/>
            <p:nvPr/>
          </p:nvSpPr>
          <p:spPr bwMode="auto"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6" name="Freihandform: Form 165"/>
            <p:cNvSpPr/>
            <p:nvPr/>
          </p:nvSpPr>
          <p:spPr bwMode="auto"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7" name="Freihandform: Form 166"/>
            <p:cNvSpPr/>
            <p:nvPr/>
          </p:nvSpPr>
          <p:spPr bwMode="auto"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8" name="Freihandform: Form 167"/>
            <p:cNvSpPr/>
            <p:nvPr/>
          </p:nvSpPr>
          <p:spPr bwMode="auto"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9" name="Freihandform: Form 168"/>
            <p:cNvSpPr/>
            <p:nvPr/>
          </p:nvSpPr>
          <p:spPr bwMode="auto"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0" name="Freihandform: Form 169"/>
            <p:cNvSpPr/>
            <p:nvPr/>
          </p:nvSpPr>
          <p:spPr bwMode="auto"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1" name="Freihandform: Form 170"/>
            <p:cNvSpPr/>
            <p:nvPr/>
          </p:nvSpPr>
          <p:spPr bwMode="auto"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2" name="Freihandform: Form 171"/>
            <p:cNvSpPr/>
            <p:nvPr/>
          </p:nvSpPr>
          <p:spPr bwMode="auto">
            <a:xfrm>
              <a:off x="2242184" y="3122293"/>
              <a:ext cx="275272" cy="368616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3" name="Freihandform: Form 172"/>
            <p:cNvSpPr/>
            <p:nvPr/>
          </p:nvSpPr>
          <p:spPr bwMode="auto"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4" name="Freihandform: Form 173"/>
            <p:cNvSpPr/>
            <p:nvPr/>
          </p:nvSpPr>
          <p:spPr bwMode="auto"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5" name="Freihandform: Form 174"/>
            <p:cNvSpPr/>
            <p:nvPr/>
          </p:nvSpPr>
          <p:spPr bwMode="auto"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6" name="Freihandform: Form 175"/>
            <p:cNvSpPr/>
            <p:nvPr/>
          </p:nvSpPr>
          <p:spPr bwMode="auto"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7" name="Freihandform: Form 176"/>
            <p:cNvSpPr/>
            <p:nvPr/>
          </p:nvSpPr>
          <p:spPr bwMode="auto"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8" name="Freihandform: Form 177"/>
            <p:cNvSpPr/>
            <p:nvPr/>
          </p:nvSpPr>
          <p:spPr bwMode="auto"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9" name="Freihandform: Form 178"/>
            <p:cNvSpPr/>
            <p:nvPr/>
          </p:nvSpPr>
          <p:spPr bwMode="auto"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0" name="Freihandform: Form 179"/>
            <p:cNvSpPr/>
            <p:nvPr/>
          </p:nvSpPr>
          <p:spPr bwMode="auto"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1" name="Freihandform: Form 180"/>
            <p:cNvSpPr/>
            <p:nvPr/>
          </p:nvSpPr>
          <p:spPr bwMode="auto"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2" name="Freihandform: Form 181"/>
            <p:cNvSpPr/>
            <p:nvPr/>
          </p:nvSpPr>
          <p:spPr bwMode="auto">
            <a:xfrm>
              <a:off x="5130164" y="3122293"/>
              <a:ext cx="231457" cy="368616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3" name="Freihandform: Form 182"/>
            <p:cNvSpPr/>
            <p:nvPr/>
          </p:nvSpPr>
          <p:spPr bwMode="auto"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4" name="Freihandform: Form 183"/>
            <p:cNvSpPr/>
            <p:nvPr/>
          </p:nvSpPr>
          <p:spPr bwMode="auto"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5" name="Freihandform: Form 184"/>
            <p:cNvSpPr/>
            <p:nvPr/>
          </p:nvSpPr>
          <p:spPr bwMode="auto"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6" name="Freihandform: Form 185"/>
            <p:cNvSpPr/>
            <p:nvPr/>
          </p:nvSpPr>
          <p:spPr bwMode="auto"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7" name="Freihandform: Form 186"/>
            <p:cNvSpPr/>
            <p:nvPr/>
          </p:nvSpPr>
          <p:spPr bwMode="auto"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8" name="Freihandform: Form 187"/>
            <p:cNvSpPr/>
            <p:nvPr/>
          </p:nvSpPr>
          <p:spPr bwMode="auto"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9" name="Freihandform: Form 188"/>
            <p:cNvSpPr/>
            <p:nvPr/>
          </p:nvSpPr>
          <p:spPr bwMode="auto"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967F253-9CF3-CB40-A953-2C224B576785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7" y="1631156"/>
            <a:ext cx="11157745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folie | zweispalt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4EE0DEE-0961-FA4D-AE94-D10BD9207031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8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4"/>
          </p:nvPr>
        </p:nvSpPr>
        <p:spPr bwMode="auto">
          <a:xfrm>
            <a:off x="6206329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folie | dreispalt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D08FC93-6A51-8444-B3D2-C9E226F9D1AE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6"/>
          </p:nvPr>
        </p:nvSpPr>
        <p:spPr bwMode="auto">
          <a:xfrm>
            <a:off x="518318" y="1631157"/>
            <a:ext cx="3568821" cy="456961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7"/>
          </p:nvPr>
        </p:nvSpPr>
        <p:spPr bwMode="auto">
          <a:xfrm>
            <a:off x="8107242" y="1631157"/>
            <a:ext cx="3568821" cy="456961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8"/>
          </p:nvPr>
        </p:nvSpPr>
        <p:spPr bwMode="auto">
          <a:xfrm>
            <a:off x="4312780" y="1631157"/>
            <a:ext cx="3568821" cy="456961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- Bild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04E0B4-F72B-B14B-80F4-D2A80C606586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8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6206329" y="1631155"/>
            <a:ext cx="5469732" cy="45696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- 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18318" y="1631155"/>
            <a:ext cx="5469732" cy="45696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B3690A9-EBB7-B549-8FF0-173CCB23736A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6206331" y="1631156"/>
            <a:ext cx="5469732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Bildfolie | mit Stör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 bwMode="auto">
          <a:xfrm>
            <a:off x="518319" y="3431381"/>
            <a:ext cx="3571200" cy="2769394"/>
          </a:xfrm>
          <a:prstGeom prst="rect">
            <a:avLst/>
          </a:prstGeo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grpSp>
        <p:nvGrpSpPr>
          <p:cNvPr id="4" name="Gruppieren 3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08,70</a:t>
              </a:r>
              <a:endParaRPr/>
            </a:p>
          </p:txBody>
        </p:sp>
      </p:grpSp>
      <p:grpSp>
        <p:nvGrpSpPr>
          <p:cNvPr id="8" name="Gruppieren 7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06,00</a:t>
              </a:r>
              <a:endParaRPr/>
            </a:p>
          </p:txBody>
        </p:sp>
      </p:grpSp>
      <p:grpSp>
        <p:nvGrpSpPr>
          <p:cNvPr id="12" name="Gruppieren 11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05,00</a:t>
              </a:r>
              <a:endParaRPr/>
            </a:p>
          </p:txBody>
        </p:sp>
      </p:grpSp>
      <p:grpSp>
        <p:nvGrpSpPr>
          <p:cNvPr id="15" name="Gruppieren 14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00,00</a:t>
              </a:r>
              <a:endParaRPr/>
            </a:p>
          </p:txBody>
        </p:sp>
      </p:grpSp>
      <p:grpSp>
        <p:nvGrpSpPr>
          <p:cNvPr id="18" name="Gruppieren 17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07,70</a:t>
              </a:r>
              <a:endParaRPr/>
            </a:p>
          </p:txBody>
        </p:sp>
      </p:grpSp>
      <p:grpSp>
        <p:nvGrpSpPr>
          <p:cNvPr id="21" name="Gruppieren 20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08,90</a:t>
              </a:r>
              <a:endParaRPr/>
            </a:p>
          </p:txBody>
        </p:sp>
      </p:grpSp>
      <p:grpSp>
        <p:nvGrpSpPr>
          <p:cNvPr id="24" name="Gruppieren 23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grpSp>
        <p:nvGrpSpPr>
          <p:cNvPr id="27" name="Gruppieren 26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grpSp>
        <p:nvGrpSpPr>
          <p:cNvPr id="30" name="Gruppieren 29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/>
            <p:cNvCxnSpPr>
              <a:cxnSpLocks/>
            </p:cNvCxnSpPr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cxnSp>
        <p:nvCxnSpPr>
          <p:cNvPr id="33" name="Gerader Verbinder 32"/>
          <p:cNvCxnSpPr>
            <a:cxnSpLocks/>
          </p:cNvCxnSpPr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folie | 1x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E7D0AB9-C7F9-3346-96C4-B6E069B93220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18317" y="1631156"/>
            <a:ext cx="11157746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26"/>
          </p:nvPr>
        </p:nvSpPr>
        <p:spPr bwMode="auto"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folie | 2x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883B760-0B2D-2B44-9BF1-1E7B5D491AD7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4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18317" y="1631156"/>
            <a:ext cx="5469732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26"/>
          </p:nvPr>
        </p:nvSpPr>
        <p:spPr bwMode="auto"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6" name="Bildplatzhalter 8"/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6206331" y="1631156"/>
            <a:ext cx="5469732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28"/>
          </p:nvPr>
        </p:nvSpPr>
        <p:spPr bwMode="auto"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folie | 3x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75E2EF-EFA6-274D-BDDB-5B6C0DCA6AAA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18" name="Titel 1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518317" y="1631156"/>
            <a:ext cx="3569758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26"/>
          </p:nvPr>
        </p:nvSpPr>
        <p:spPr bwMode="auto"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3" name="Bildplatzhalter 8"/>
          <p:cNvSpPr>
            <a:spLocks noGrp="1"/>
          </p:cNvSpPr>
          <p:nvPr>
            <p:ph type="pic" sz="quarter" idx="27" hasCustomPrompt="1"/>
          </p:nvPr>
        </p:nvSpPr>
        <p:spPr bwMode="auto">
          <a:xfrm>
            <a:off x="8106305" y="1631156"/>
            <a:ext cx="3569758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8"/>
          </p:nvPr>
        </p:nvSpPr>
        <p:spPr bwMode="auto"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5" name="Bildplatzhalter 8"/>
          <p:cNvSpPr>
            <a:spLocks noGrp="1"/>
          </p:cNvSpPr>
          <p:nvPr>
            <p:ph type="pic" sz="quarter" idx="29" hasCustomPrompt="1"/>
          </p:nvPr>
        </p:nvSpPr>
        <p:spPr bwMode="auto">
          <a:xfrm>
            <a:off x="4312311" y="1631156"/>
            <a:ext cx="3569758" cy="3951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30"/>
          </p:nvPr>
        </p:nvSpPr>
        <p:spPr bwMode="auto"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halts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532C5E7-C47D-7B46-9A41-5502F7E77F6C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 bwMode="auto">
          <a:xfrm>
            <a:off x="518317" y="1631156"/>
            <a:ext cx="11155366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haltsfolie | zweispalti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3A8392-B0B5-4E48-AD54-85FB63F14CA4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 bwMode="auto">
          <a:xfrm>
            <a:off x="518317" y="1631156"/>
            <a:ext cx="5469733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" name="Inhaltsplatzhalter 7"/>
          <p:cNvSpPr>
            <a:spLocks noGrp="1"/>
          </p:cNvSpPr>
          <p:nvPr>
            <p:ph sz="quarter" idx="39" hasCustomPrompt="1"/>
          </p:nvPr>
        </p:nvSpPr>
        <p:spPr bwMode="auto">
          <a:xfrm>
            <a:off x="6206330" y="1631156"/>
            <a:ext cx="5469733" cy="4569619"/>
          </a:xfrm>
        </p:spPr>
        <p:txBody>
          <a:bodyPr/>
          <a:lstStyle/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haltsfolie | mit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26E852E-2FC7-4841-9150-A1EFC7605A0A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5"/>
          </p:nvPr>
        </p:nvSpPr>
        <p:spPr bwMode="auto">
          <a:xfrm>
            <a:off x="8104861" y="1631156"/>
            <a:ext cx="3571200" cy="456962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9" name="Inhaltsplatzhalter 7"/>
          <p:cNvSpPr>
            <a:spLocks noGrp="1"/>
          </p:cNvSpPr>
          <p:nvPr>
            <p:ph sz="quarter" idx="16" hasCustomPrompt="1"/>
          </p:nvPr>
        </p:nvSpPr>
        <p:spPr bwMode="auto">
          <a:xfrm>
            <a:off x="518317" y="1631157"/>
            <a:ext cx="7363752" cy="4569620"/>
          </a:xfrm>
        </p:spPr>
        <p:txBody>
          <a:bodyPr/>
          <a:lstStyle/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C4CDFEE-E9FA-C647-BEA8-1AC606327D63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57" name="Rechteck 56"/>
          <p:cNvSpPr/>
          <p:nvPr userDrawn="1"/>
        </p:nvSpPr>
        <p:spPr bwMode="auto">
          <a:xfrm>
            <a:off x="517200" y="6538525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59" name="Rechteck 58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60" name="Textplatzhalter 9"/>
          <p:cNvSpPr>
            <a:spLocks noGrp="1"/>
          </p:cNvSpPr>
          <p:nvPr>
            <p:ph type="body" sz="quarter" idx="23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1" name="Freihandform: Form 60"/>
          <p:cNvSpPr>
            <a:spLocks noChangeAspect="1"/>
          </p:cNvSpPr>
          <p:nvPr userDrawn="1"/>
        </p:nvSpPr>
        <p:spPr bwMode="auto"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 extrusionOk="0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/>
          </a:p>
        </p:txBody>
      </p:sp>
      <p:grpSp>
        <p:nvGrpSpPr>
          <p:cNvPr id="11" name="Gruppieren 10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08,70</a:t>
              </a:r>
              <a:endParaRPr/>
            </a:p>
          </p:txBody>
        </p:sp>
      </p:grpSp>
      <p:grpSp>
        <p:nvGrpSpPr>
          <p:cNvPr id="14" name="Gruppieren 13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06,00</a:t>
              </a:r>
              <a:endParaRPr/>
            </a:p>
          </p:txBody>
        </p:sp>
      </p:grpSp>
      <p:grpSp>
        <p:nvGrpSpPr>
          <p:cNvPr id="17" name="Gruppieren 16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05,00</a:t>
              </a:r>
              <a:endParaRPr/>
            </a:p>
          </p:txBody>
        </p:sp>
      </p:grpSp>
      <p:grpSp>
        <p:nvGrpSpPr>
          <p:cNvPr id="20" name="Gruppieren 19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00,00</a:t>
              </a:r>
              <a:endParaRPr/>
            </a:p>
          </p:txBody>
        </p:sp>
      </p:grpSp>
      <p:grpSp>
        <p:nvGrpSpPr>
          <p:cNvPr id="23" name="Gruppieren 22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07,70</a:t>
              </a:r>
              <a:endParaRPr/>
            </a:p>
          </p:txBody>
        </p:sp>
      </p:grpSp>
      <p:grpSp>
        <p:nvGrpSpPr>
          <p:cNvPr id="26" name="Gruppieren 25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08,90</a:t>
              </a:r>
              <a:endParaRPr/>
            </a:p>
          </p:txBody>
        </p:sp>
      </p:grpSp>
      <p:grpSp>
        <p:nvGrpSpPr>
          <p:cNvPr id="29" name="Gruppieren 28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grpSp>
        <p:nvGrpSpPr>
          <p:cNvPr id="32" name="Gruppieren 31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grpSp>
        <p:nvGrpSpPr>
          <p:cNvPr id="35" name="Gruppieren 34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/>
            <p:cNvCxnSpPr>
              <a:cxnSpLocks/>
            </p:cNvCxnSpPr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cxnSp>
        <p:nvCxnSpPr>
          <p:cNvPr id="38" name="Gerader Verbinder 37"/>
          <p:cNvCxnSpPr>
            <a:cxnSpLocks/>
          </p:cNvCxnSpPr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pic>
        <p:nvPicPr>
          <p:cNvPr id="44" name="Grafik 4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Nur Titel | weiß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8B347D-BAD8-664E-AF25-B93A6305A038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8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ita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CEEB8E6-BDB5-9947-8710-CF7703CA4D54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 bwMode="auto"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None/>
              <a:defRPr/>
            </a:pPr>
            <a:endParaRPr lang="de-DE" sz="16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>
              <a:defRPr/>
            </a:pPr>
            <a:r>
              <a:rPr lang="de-DE"/>
              <a:t>„Mastertextformat bearbeiten“</a:t>
            </a:r>
            <a:endParaRPr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37"/>
          </p:nvPr>
        </p:nvSpPr>
        <p:spPr bwMode="auto"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9011095" y="247920"/>
            <a:ext cx="993966" cy="647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" name="Textplatzhalter 16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1628775"/>
            <a:ext cx="12192000" cy="5229225"/>
          </a:xfrm>
          <a:prstGeom prst="rect">
            <a:avLst/>
          </a:prstGeom>
          <a:gradFill>
            <a:gsLst>
              <a:gs pos="5000">
                <a:schemeClr val="accent4"/>
              </a:gs>
              <a:gs pos="50000">
                <a:schemeClr val="accent4">
                  <a:alpha val="50000"/>
                </a:schemeClr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59" name="Bildplatzhalter 6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0" y="1628775"/>
            <a:ext cx="12192000" cy="52292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de-DE"/>
              <a:t> </a:t>
            </a:r>
            <a:endParaRPr/>
          </a:p>
        </p:txBody>
      </p:sp>
      <p:sp>
        <p:nvSpPr>
          <p:cNvPr id="60" name="Rechteck 59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4" name="Textplatzhalter 6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defRPr/>
            </a:pPr>
            <a:r>
              <a:rPr lang="de-DE"/>
              <a:t>Vielen Dank</a:t>
            </a:r>
            <a:br>
              <a:rPr lang="de-DE"/>
            </a:br>
            <a:r>
              <a:rPr lang="de-DE"/>
              <a:t>für Ihre Aufmerksamkeit!</a:t>
            </a:r>
            <a:endParaRPr/>
          </a:p>
        </p:txBody>
      </p:sp>
      <p:sp>
        <p:nvSpPr>
          <p:cNvPr id="58" name="Freihandform: Form 57"/>
          <p:cNvSpPr/>
          <p:nvPr userDrawn="1"/>
        </p:nvSpPr>
        <p:spPr bwMode="auto"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 extrusionOk="0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/>
          </a:p>
        </p:txBody>
      </p:sp>
      <p:grpSp>
        <p:nvGrpSpPr>
          <p:cNvPr id="56" name="Gruppieren 55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08,70</a:t>
              </a:r>
              <a:endParaRPr/>
            </a:p>
          </p:txBody>
        </p:sp>
      </p:grpSp>
      <p:grpSp>
        <p:nvGrpSpPr>
          <p:cNvPr id="64" name="Gruppieren 63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06,00</a:t>
              </a:r>
              <a:endParaRPr/>
            </a:p>
          </p:txBody>
        </p:sp>
      </p:grpSp>
      <p:grpSp>
        <p:nvGrpSpPr>
          <p:cNvPr id="68" name="Gruppieren 67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05,00</a:t>
              </a:r>
              <a:endParaRPr/>
            </a:p>
          </p:txBody>
        </p:sp>
      </p:grpSp>
      <p:grpSp>
        <p:nvGrpSpPr>
          <p:cNvPr id="71" name="Gruppieren 70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00,00</a:t>
              </a:r>
              <a:endParaRPr/>
            </a:p>
          </p:txBody>
        </p:sp>
      </p:grpSp>
      <p:grpSp>
        <p:nvGrpSpPr>
          <p:cNvPr id="74" name="Gruppieren 73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07,70</a:t>
              </a:r>
              <a:endParaRPr/>
            </a:p>
          </p:txBody>
        </p:sp>
      </p:grpSp>
      <p:grpSp>
        <p:nvGrpSpPr>
          <p:cNvPr id="77" name="Gruppieren 76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08,90</a:t>
              </a:r>
              <a:endParaRPr/>
            </a:p>
          </p:txBody>
        </p:sp>
      </p:grpSp>
      <p:grpSp>
        <p:nvGrpSpPr>
          <p:cNvPr id="80" name="Gruppieren 79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grpSp>
        <p:nvGrpSpPr>
          <p:cNvPr id="83" name="Gruppieren 82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grpSp>
        <p:nvGrpSpPr>
          <p:cNvPr id="86" name="Gruppieren 85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/>
            <p:cNvCxnSpPr>
              <a:cxnSpLocks/>
            </p:cNvCxnSpPr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cxnSp>
        <p:nvCxnSpPr>
          <p:cNvPr id="89" name="Gerader Verbinder 88"/>
          <p:cNvCxnSpPr>
            <a:cxnSpLocks/>
          </p:cNvCxnSpPr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grpSp>
        <p:nvGrpSpPr>
          <p:cNvPr id="93" name="Grafik 3"/>
          <p:cNvGrpSpPr/>
          <p:nvPr userDrawn="1"/>
        </p:nvGrpSpPr>
        <p:grpSpPr bwMode="auto">
          <a:xfrm>
            <a:off x="510639" y="293688"/>
            <a:ext cx="2594512" cy="327278"/>
            <a:chOff x="2242184" y="2525076"/>
            <a:chExt cx="7709534" cy="972502"/>
          </a:xfrm>
          <a:solidFill>
            <a:schemeClr val="tx1"/>
          </a:solidFill>
        </p:grpSpPr>
        <p:sp>
          <p:nvSpPr>
            <p:cNvPr id="94" name="Freihandform: Form 93"/>
            <p:cNvSpPr/>
            <p:nvPr/>
          </p:nvSpPr>
          <p:spPr bwMode="auto">
            <a:xfrm>
              <a:off x="2269806" y="2545079"/>
              <a:ext cx="232408" cy="369569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 extrusionOk="0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5" name="Freihandform: Form 94"/>
            <p:cNvSpPr/>
            <p:nvPr/>
          </p:nvSpPr>
          <p:spPr bwMode="auto">
            <a:xfrm>
              <a:off x="2538412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6" name="Freihandform: Form 95"/>
            <p:cNvSpPr/>
            <p:nvPr/>
          </p:nvSpPr>
          <p:spPr bwMode="auto">
            <a:xfrm>
              <a:off x="2743199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7" name="Freihandform: Form 96"/>
            <p:cNvSpPr/>
            <p:nvPr/>
          </p:nvSpPr>
          <p:spPr bwMode="auto">
            <a:xfrm>
              <a:off x="2879407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8" name="Freihandform: Form 97"/>
            <p:cNvSpPr/>
            <p:nvPr/>
          </p:nvSpPr>
          <p:spPr bwMode="auto">
            <a:xfrm>
              <a:off x="317753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9" name="Freihandform: Form 98"/>
            <p:cNvSpPr/>
            <p:nvPr/>
          </p:nvSpPr>
          <p:spPr bwMode="auto">
            <a:xfrm>
              <a:off x="3509009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0" name="Freihandform: Form 99"/>
            <p:cNvSpPr/>
            <p:nvPr/>
          </p:nvSpPr>
          <p:spPr bwMode="auto">
            <a:xfrm>
              <a:off x="3712844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1" name="Freihandform: Form 100"/>
            <p:cNvSpPr/>
            <p:nvPr/>
          </p:nvSpPr>
          <p:spPr bwMode="auto">
            <a:xfrm>
              <a:off x="3850957" y="2640329"/>
              <a:ext cx="224789" cy="280034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 extrusionOk="0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2" name="Freihandform: Form 101"/>
            <p:cNvSpPr/>
            <p:nvPr/>
          </p:nvSpPr>
          <p:spPr bwMode="auto">
            <a:xfrm>
              <a:off x="4129086" y="2525076"/>
              <a:ext cx="229552" cy="389572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 extrusionOk="0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3" name="Freihandform: Form 102"/>
            <p:cNvSpPr/>
            <p:nvPr/>
          </p:nvSpPr>
          <p:spPr bwMode="auto">
            <a:xfrm>
              <a:off x="4430077" y="2721291"/>
              <a:ext cx="130492" cy="59055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 extrusionOk="0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4" name="Freihandform: Form 103"/>
            <p:cNvSpPr/>
            <p:nvPr/>
          </p:nvSpPr>
          <p:spPr bwMode="auto">
            <a:xfrm>
              <a:off x="4593906" y="2545079"/>
              <a:ext cx="342900" cy="368616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 extrusionOk="0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5" name="Freihandform: Form 104"/>
            <p:cNvSpPr/>
            <p:nvPr/>
          </p:nvSpPr>
          <p:spPr bwMode="auto">
            <a:xfrm>
              <a:off x="4992052" y="2525076"/>
              <a:ext cx="61912" cy="388620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 extrusionOk="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6" name="Freihandform: Form 105"/>
            <p:cNvSpPr/>
            <p:nvPr/>
          </p:nvSpPr>
          <p:spPr bwMode="auto">
            <a:xfrm>
              <a:off x="512063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7" name="Freihandform: Form 106"/>
            <p:cNvSpPr/>
            <p:nvPr/>
          </p:nvSpPr>
          <p:spPr bwMode="auto">
            <a:xfrm>
              <a:off x="5397817" y="2646997"/>
              <a:ext cx="255269" cy="266700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 extrusionOk="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8" name="Freihandform: Form 107"/>
            <p:cNvSpPr/>
            <p:nvPr/>
          </p:nvSpPr>
          <p:spPr bwMode="auto">
            <a:xfrm>
              <a:off x="5686407" y="2641281"/>
              <a:ext cx="225759" cy="279082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 extrusionOk="0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9" name="Freihandform: Form 108"/>
            <p:cNvSpPr/>
            <p:nvPr/>
          </p:nvSpPr>
          <p:spPr bwMode="auto">
            <a:xfrm>
              <a:off x="5991224" y="2641281"/>
              <a:ext cx="229552" cy="27336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 extrusionOk="0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0" name="Freihandform: Form 109"/>
            <p:cNvSpPr/>
            <p:nvPr/>
          </p:nvSpPr>
          <p:spPr bwMode="auto">
            <a:xfrm>
              <a:off x="6286499" y="2525076"/>
              <a:ext cx="248602" cy="396239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 extrusionOk="0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1" name="Freihandform: Form 110"/>
            <p:cNvSpPr/>
            <p:nvPr/>
          </p:nvSpPr>
          <p:spPr bwMode="auto">
            <a:xfrm>
              <a:off x="6602729" y="2641281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2" name="Freihandform: Form 111"/>
            <p:cNvSpPr/>
            <p:nvPr/>
          </p:nvSpPr>
          <p:spPr bwMode="auto">
            <a:xfrm>
              <a:off x="6916101" y="2641039"/>
              <a:ext cx="160020" cy="272657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3" name="Freihandform: Form 112"/>
            <p:cNvSpPr/>
            <p:nvPr/>
          </p:nvSpPr>
          <p:spPr bwMode="auto">
            <a:xfrm>
              <a:off x="7115173" y="2721291"/>
              <a:ext cx="130492" cy="59055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 extrusionOk="0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2" name="Freihandform: Form 161"/>
            <p:cNvSpPr/>
            <p:nvPr/>
          </p:nvSpPr>
          <p:spPr bwMode="auto">
            <a:xfrm>
              <a:off x="7324724" y="2545079"/>
              <a:ext cx="288607" cy="375284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 extrusionOk="0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3" name="Freihandform: Form 162"/>
            <p:cNvSpPr/>
            <p:nvPr/>
          </p:nvSpPr>
          <p:spPr bwMode="auto">
            <a:xfrm>
              <a:off x="7697151" y="2641281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4" name="Freihandform: Form 163"/>
            <p:cNvSpPr/>
            <p:nvPr/>
          </p:nvSpPr>
          <p:spPr bwMode="auto">
            <a:xfrm>
              <a:off x="7996237" y="2528887"/>
              <a:ext cx="79057" cy="384810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5" name="Freihandform: Form 164"/>
            <p:cNvSpPr/>
            <p:nvPr/>
          </p:nvSpPr>
          <p:spPr bwMode="auto">
            <a:xfrm>
              <a:off x="8119109" y="2647949"/>
              <a:ext cx="259079" cy="266700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 extrusionOk="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6" name="Freihandform: Form 165"/>
            <p:cNvSpPr/>
            <p:nvPr/>
          </p:nvSpPr>
          <p:spPr bwMode="auto">
            <a:xfrm>
              <a:off x="8406764" y="2641281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7" name="Freihandform: Form 166"/>
            <p:cNvSpPr/>
            <p:nvPr/>
          </p:nvSpPr>
          <p:spPr bwMode="auto">
            <a:xfrm>
              <a:off x="8720137" y="2641039"/>
              <a:ext cx="160019" cy="272657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 extrusionOk="0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8" name="Freihandform: Form 167"/>
            <p:cNvSpPr/>
            <p:nvPr/>
          </p:nvSpPr>
          <p:spPr bwMode="auto">
            <a:xfrm>
              <a:off x="8909684" y="2640329"/>
              <a:ext cx="205739" cy="280034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 extrusionOk="0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69" name="Freihandform: Form 168"/>
            <p:cNvSpPr/>
            <p:nvPr/>
          </p:nvSpPr>
          <p:spPr bwMode="auto">
            <a:xfrm>
              <a:off x="9173526" y="2528887"/>
              <a:ext cx="79057" cy="384810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 extrusionOk="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0" name="Freihandform: Form 169"/>
            <p:cNvSpPr/>
            <p:nvPr/>
          </p:nvSpPr>
          <p:spPr bwMode="auto">
            <a:xfrm>
              <a:off x="9297351" y="2562224"/>
              <a:ext cx="165735" cy="358139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1" name="Freihandform: Form 170"/>
            <p:cNvSpPr/>
            <p:nvPr/>
          </p:nvSpPr>
          <p:spPr bwMode="auto">
            <a:xfrm>
              <a:off x="9511664" y="2533649"/>
              <a:ext cx="225742" cy="386714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2" name="Freihandform: Form 171"/>
            <p:cNvSpPr/>
            <p:nvPr/>
          </p:nvSpPr>
          <p:spPr bwMode="auto">
            <a:xfrm>
              <a:off x="9785984" y="2562224"/>
              <a:ext cx="165734" cy="358139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3" name="Freihandform: Form 172"/>
            <p:cNvSpPr/>
            <p:nvPr/>
          </p:nvSpPr>
          <p:spPr bwMode="auto">
            <a:xfrm>
              <a:off x="2242184" y="3122293"/>
              <a:ext cx="275272" cy="368616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 extrusionOk="0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4" name="Freihandform: Form 173"/>
            <p:cNvSpPr/>
            <p:nvPr/>
          </p:nvSpPr>
          <p:spPr bwMode="auto">
            <a:xfrm>
              <a:off x="2519362" y="3217544"/>
              <a:ext cx="242887" cy="279082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5" name="Freihandform: Form 174"/>
            <p:cNvSpPr/>
            <p:nvPr/>
          </p:nvSpPr>
          <p:spPr bwMode="auto">
            <a:xfrm>
              <a:off x="2816541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6" name="Freihandform: Form 175"/>
            <p:cNvSpPr/>
            <p:nvPr/>
          </p:nvSpPr>
          <p:spPr bwMode="auto">
            <a:xfrm>
              <a:off x="3095624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7" name="Freihandform: Form 176"/>
            <p:cNvSpPr/>
            <p:nvPr/>
          </p:nvSpPr>
          <p:spPr bwMode="auto">
            <a:xfrm>
              <a:off x="3404234" y="3217544"/>
              <a:ext cx="228600" cy="27336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 extrusionOk="0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8" name="Freihandform: Form 177"/>
            <p:cNvSpPr/>
            <p:nvPr/>
          </p:nvSpPr>
          <p:spPr bwMode="auto">
            <a:xfrm>
              <a:off x="3703319" y="3105149"/>
              <a:ext cx="79057" cy="384809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 extrusionOk="0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79" name="Freihandform: Form 178"/>
            <p:cNvSpPr/>
            <p:nvPr/>
          </p:nvSpPr>
          <p:spPr bwMode="auto">
            <a:xfrm>
              <a:off x="3830954" y="3216591"/>
              <a:ext cx="205740" cy="280035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 extrusionOk="0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0" name="Freihandform: Form 179"/>
            <p:cNvSpPr/>
            <p:nvPr/>
          </p:nvSpPr>
          <p:spPr bwMode="auto">
            <a:xfrm>
              <a:off x="4087177" y="3216591"/>
              <a:ext cx="224790" cy="280035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 extrusionOk="0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1" name="Freihandform: Form 180"/>
            <p:cNvSpPr/>
            <p:nvPr/>
          </p:nvSpPr>
          <p:spPr bwMode="auto">
            <a:xfrm>
              <a:off x="4366259" y="3101339"/>
              <a:ext cx="228600" cy="389572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 extrusionOk="0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2" name="Freihandform: Form 181"/>
            <p:cNvSpPr/>
            <p:nvPr/>
          </p:nvSpPr>
          <p:spPr bwMode="auto">
            <a:xfrm>
              <a:off x="4659629" y="3217544"/>
              <a:ext cx="242887" cy="279082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 extrusionOk="0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3" name="Freihandform: Form 182"/>
            <p:cNvSpPr/>
            <p:nvPr/>
          </p:nvSpPr>
          <p:spPr bwMode="auto">
            <a:xfrm>
              <a:off x="5130164" y="3122293"/>
              <a:ext cx="231457" cy="368616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 extrusionOk="0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4" name="Freihandform: Form 183"/>
            <p:cNvSpPr/>
            <p:nvPr/>
          </p:nvSpPr>
          <p:spPr bwMode="auto">
            <a:xfrm>
              <a:off x="5373052" y="3217544"/>
              <a:ext cx="226694" cy="279082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 extrusionOk="0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5" name="Freihandform: Form 184"/>
            <p:cNvSpPr/>
            <p:nvPr/>
          </p:nvSpPr>
          <p:spPr bwMode="auto">
            <a:xfrm>
              <a:off x="5678804" y="3101339"/>
              <a:ext cx="234314" cy="389572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 extrusionOk="0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6" name="Freihandform: Form 185"/>
            <p:cNvSpPr/>
            <p:nvPr/>
          </p:nvSpPr>
          <p:spPr bwMode="auto">
            <a:xfrm>
              <a:off x="5958839" y="3224212"/>
              <a:ext cx="229552" cy="27336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 extrusionOk="0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7" name="Freihandform: Form 186"/>
            <p:cNvSpPr/>
            <p:nvPr/>
          </p:nvSpPr>
          <p:spPr bwMode="auto">
            <a:xfrm>
              <a:off x="6268402" y="3100387"/>
              <a:ext cx="61912" cy="389572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 extrusionOk="0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8" name="Freihandform: Form 187"/>
            <p:cNvSpPr/>
            <p:nvPr/>
          </p:nvSpPr>
          <p:spPr bwMode="auto">
            <a:xfrm>
              <a:off x="6385559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89" name="Freihandform: Form 188"/>
            <p:cNvSpPr/>
            <p:nvPr/>
          </p:nvSpPr>
          <p:spPr bwMode="auto">
            <a:xfrm>
              <a:off x="6599871" y="3109912"/>
              <a:ext cx="225742" cy="386715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 extrusionOk="0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90" name="Freihandform: Form 189"/>
            <p:cNvSpPr/>
            <p:nvPr/>
          </p:nvSpPr>
          <p:spPr bwMode="auto">
            <a:xfrm>
              <a:off x="6874192" y="3138487"/>
              <a:ext cx="165734" cy="358140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 extrusionOk="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DE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E89001D-5E94-174C-AF69-6CF1160AA43D}" type="datetime4">
              <a:rPr lang="de-DE"/>
              <a:t>28. September 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949F9DF-37BD-4CD6-BF49-65BA579E1D7A}" type="slidenum">
              <a:rPr lang="de-DE"/>
              <a:t>‹#›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 bwMode="auto">
          <a:xfrm>
            <a:off x="518400" y="1196733"/>
            <a:ext cx="11676061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9" name="Rechteck 8"/>
          <p:cNvSpPr/>
          <p:nvPr userDrawn="1"/>
        </p:nvSpPr>
        <p:spPr bwMode="auto">
          <a:xfrm>
            <a:off x="517200" y="6538525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grpSp>
        <p:nvGrpSpPr>
          <p:cNvPr id="13" name="Gruppieren 12"/>
          <p:cNvGrpSpPr/>
          <p:nvPr userDrawn="1"/>
        </p:nvGrpSpPr>
        <p:grpSpPr bwMode="auto"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/>
            <p:cNvSpPr txBox="1"/>
            <p:nvPr userDrawn="1"/>
          </p:nvSpPr>
          <p:spPr bwMode="auto"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08,70</a:t>
              </a:r>
              <a:endParaRPr/>
            </a:p>
          </p:txBody>
        </p:sp>
      </p:grpSp>
      <p:grpSp>
        <p:nvGrpSpPr>
          <p:cNvPr id="15" name="Gruppieren 14"/>
          <p:cNvGrpSpPr/>
          <p:nvPr userDrawn="1"/>
        </p:nvGrpSpPr>
        <p:grpSpPr bwMode="auto"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06,00</a:t>
              </a:r>
              <a:endParaRPr/>
            </a:p>
          </p:txBody>
        </p:sp>
      </p:grpSp>
      <p:grpSp>
        <p:nvGrpSpPr>
          <p:cNvPr id="18" name="Gruppieren 17"/>
          <p:cNvGrpSpPr/>
          <p:nvPr userDrawn="1"/>
        </p:nvGrpSpPr>
        <p:grpSpPr bwMode="auto"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05,00</a:t>
              </a:r>
              <a:endParaRPr/>
            </a:p>
          </p:txBody>
        </p:sp>
      </p:grpSp>
      <p:grpSp>
        <p:nvGrpSpPr>
          <p:cNvPr id="21" name="Gruppieren 20"/>
          <p:cNvGrpSpPr/>
          <p:nvPr userDrawn="1"/>
        </p:nvGrpSpPr>
        <p:grpSpPr bwMode="auto"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/>
            <p:cNvSpPr txBox="1"/>
            <p:nvPr userDrawn="1"/>
          </p:nvSpPr>
          <p:spPr bwMode="auto"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00,00</a:t>
              </a:r>
              <a:endParaRPr/>
            </a:p>
          </p:txBody>
        </p:sp>
      </p:grpSp>
      <p:grpSp>
        <p:nvGrpSpPr>
          <p:cNvPr id="24" name="Gruppieren 23"/>
          <p:cNvGrpSpPr/>
          <p:nvPr userDrawn="1"/>
        </p:nvGrpSpPr>
        <p:grpSpPr bwMode="auto"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/>
            <p:cNvSpPr txBox="1"/>
            <p:nvPr userDrawn="1"/>
          </p:nvSpPr>
          <p:spPr bwMode="auto"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07,70</a:t>
              </a:r>
              <a:endParaRPr/>
            </a:p>
          </p:txBody>
        </p:sp>
      </p:grpSp>
      <p:grpSp>
        <p:nvGrpSpPr>
          <p:cNvPr id="27" name="Gruppieren 26"/>
          <p:cNvGrpSpPr/>
          <p:nvPr userDrawn="1"/>
        </p:nvGrpSpPr>
        <p:grpSpPr bwMode="auto"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/>
            <p:cNvSpPr txBox="1"/>
            <p:nvPr userDrawn="1"/>
          </p:nvSpPr>
          <p:spPr bwMode="auto"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08,90</a:t>
              </a:r>
              <a:endParaRPr/>
            </a:p>
          </p:txBody>
        </p:sp>
      </p:grpSp>
      <p:grpSp>
        <p:nvGrpSpPr>
          <p:cNvPr id="30" name="Gruppieren 29"/>
          <p:cNvGrpSpPr/>
          <p:nvPr userDrawn="1"/>
        </p:nvGrpSpPr>
        <p:grpSpPr bwMode="auto">
          <a:xfrm rot="16199999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/>
            <p:cNvSpPr txBox="1"/>
            <p:nvPr userDrawn="1"/>
          </p:nvSpPr>
          <p:spPr bwMode="auto"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grpSp>
        <p:nvGrpSpPr>
          <p:cNvPr id="33" name="Gruppieren 32"/>
          <p:cNvGrpSpPr/>
          <p:nvPr userDrawn="1"/>
        </p:nvGrpSpPr>
        <p:grpSpPr bwMode="auto">
          <a:xfrm rot="16199999">
            <a:off x="5752962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/>
            <p:cNvSpPr txBox="1"/>
            <p:nvPr userDrawn="1"/>
          </p:nvSpPr>
          <p:spPr bwMode="auto"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grpSp>
        <p:nvGrpSpPr>
          <p:cNvPr id="14" name="Gruppieren 13"/>
          <p:cNvGrpSpPr/>
          <p:nvPr userDrawn="1"/>
        </p:nvGrpSpPr>
        <p:grpSpPr bwMode="auto"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/>
            <p:cNvCxnSpPr>
              <a:cxnSpLocks/>
            </p:cNvCxnSpPr>
            <p:nvPr userDrawn="1"/>
          </p:nvCxnSpPr>
          <p:spPr bwMode="auto">
            <a:xfrm rot="16199999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/>
            <p:cNvSpPr txBox="1"/>
            <p:nvPr userDrawn="1"/>
          </p:nvSpPr>
          <p:spPr bwMode="auto">
            <a:xfrm rot="16199999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00,30</a:t>
              </a:r>
              <a:endParaRPr/>
            </a:p>
          </p:txBody>
        </p:sp>
      </p:grpSp>
      <p:cxnSp>
        <p:nvCxnSpPr>
          <p:cNvPr id="40" name="Gerader Verbinder 39"/>
          <p:cNvCxnSpPr>
            <a:cxnSpLocks/>
          </p:cNvCxnSpPr>
          <p:nvPr userDrawn="1"/>
        </p:nvCxnSpPr>
        <p:spPr bwMode="auto">
          <a:xfrm rot="16199999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/>
          <p:cNvGrpSpPr/>
          <p:nvPr userDrawn="1"/>
        </p:nvGrpSpPr>
        <p:grpSpPr bwMode="auto">
          <a:xfrm rot="16199999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/>
            <p:cNvCxnSpPr>
              <a:cxnSpLocks/>
            </p:cNvCxnSpPr>
            <p:nvPr userDrawn="1"/>
          </p:nvCxnSpPr>
          <p:spPr bwMode="auto"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/>
            <p:cNvSpPr txBox="1"/>
            <p:nvPr userDrawn="1"/>
          </p:nvSpPr>
          <p:spPr bwMode="auto"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/>
                <a:buNone/>
                <a:defRPr/>
              </a:pPr>
              <a:r>
                <a:rPr lang="de-DE" sz="800" b="0" i="0" u="none" strike="noStrike" cap="none" spc="0">
                  <a:ln>
                    <a:noFill/>
                  </a:ln>
                  <a:solidFill>
                    <a:schemeClr val="accent6"/>
                  </a:solidFill>
                  <a:latin typeface="Arial"/>
                  <a:ea typeface="+mn-ea"/>
                  <a:cs typeface="+mn-cs"/>
                </a:rPr>
                <a:t>15,50</a:t>
              </a:r>
              <a:endParaRPr/>
            </a:p>
          </p:txBody>
        </p:sp>
      </p:grpSp>
      <p:sp>
        <p:nvSpPr>
          <p:cNvPr id="44" name="Freihandform: Form 43"/>
          <p:cNvSpPr>
            <a:spLocks noChangeAspect="1"/>
          </p:cNvSpPr>
          <p:nvPr userDrawn="1"/>
        </p:nvSpPr>
        <p:spPr bwMode="auto"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 extrusionOk="0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de-DE" sz="1800" b="0" i="0" u="none" strike="noStrike" cap="none" spc="0">
              <a:ln>
                <a:noFill/>
              </a:ln>
              <a:solidFill>
                <a:prstClr val="blac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/>
  <p:txStyles>
    <p:titleStyle>
      <a:lvl1pPr algn="l" defTabSz="914400">
        <a:lnSpc>
          <a:spcPct val="90000"/>
        </a:lnSpc>
        <a:spcBef>
          <a:spcPts val="0"/>
        </a:spcBef>
        <a:buNone/>
        <a:defRPr sz="2400" b="1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110000"/>
        </a:lnSpc>
        <a:spcBef>
          <a:spcPts val="0"/>
        </a:spcBef>
        <a:spcAft>
          <a:spcPts val="1200"/>
        </a:spcAft>
        <a:buFont typeface="Arial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/>
        <a:buChar char="-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Bildplatzhalter 13" descr="Ein Bild, das Text, Geschirr enthält.&#10;&#10;Automatisch generierte Beschreibu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1875" b="11875"/>
          <a:stretch/>
        </p:blipFill>
        <p:spPr bwMode="auto">
          <a:prstGeom prst="rect">
            <a:avLst/>
          </a:prstGeom>
        </p:spPr>
      </p:pic>
      <p:sp>
        <p:nvSpPr>
          <p:cNvPr id="10" name="Textplatzhalter 9"/>
          <p:cNvSpPr>
            <a:spLocks noGrp="1"/>
          </p:cNvSpPr>
          <p:nvPr>
            <p:ph type="body" sz="quarter" idx="11"/>
          </p:nvPr>
        </p:nvSpPr>
        <p:spPr bwMode="auto">
          <a:xfrm>
            <a:off x="0" y="1628776"/>
            <a:ext cx="12192000" cy="3005218"/>
          </a:xfrm>
        </p:spPr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 bwMode="auto">
          <a:xfrm>
            <a:off x="520163" y="1871315"/>
            <a:ext cx="8832546" cy="265592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Monthly Students Meeting (MSM) – </a:t>
            </a:r>
            <a:br>
              <a:rPr lang="en-US" sz="4000" dirty="0"/>
            </a:br>
            <a:r>
              <a:rPr lang="en-US" sz="4000" dirty="0"/>
              <a:t>RSS-based transmitter localization </a:t>
            </a:r>
            <a:br>
              <a:rPr lang="en-US" sz="4000" dirty="0"/>
            </a:br>
            <a:r>
              <a:rPr lang="en-US" sz="4000" dirty="0"/>
              <a:t>using distributed spectrum sensing </a:t>
            </a:r>
            <a:br>
              <a:rPr lang="en-US" sz="4000" dirty="0"/>
            </a:br>
            <a:r>
              <a:rPr lang="en-US" sz="4000" dirty="0"/>
              <a:t>in 5G networks</a:t>
            </a:r>
            <a:endParaRPr lang="de-DE" sz="4000" dirty="0"/>
          </a:p>
        </p:txBody>
      </p:sp>
      <p:sp>
        <p:nvSpPr>
          <p:cNvPr id="5" name="Textfeld 4"/>
          <p:cNvSpPr txBox="1"/>
          <p:nvPr/>
        </p:nvSpPr>
        <p:spPr bwMode="auto">
          <a:xfrm>
            <a:off x="489167" y="5497323"/>
            <a:ext cx="5710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1400" b="1"/>
              <a:t>Lehrstuhl Elektrische Smart City Systeme</a:t>
            </a:r>
            <a:endParaRPr/>
          </a:p>
          <a:p>
            <a:pPr>
              <a:defRPr/>
            </a:pPr>
            <a:r>
              <a:rPr lang="de-DE" sz="1400"/>
              <a:t>Nuremberg Campus of Technology (NCT)</a:t>
            </a:r>
            <a:endParaRPr/>
          </a:p>
          <a:p>
            <a:pPr>
              <a:defRPr/>
            </a:pPr>
            <a:endParaRPr lang="de-DE" sz="1400" b="1"/>
          </a:p>
          <a:p>
            <a:pPr>
              <a:defRPr/>
            </a:pPr>
            <a:r>
              <a:rPr lang="de-DE" sz="1400"/>
              <a:t>Prof. Dr.-Ing. </a:t>
            </a:r>
            <a:r>
              <a:rPr lang="de-DE" sz="1400" b="1"/>
              <a:t>Norman Franchi</a:t>
            </a:r>
            <a:endParaRPr/>
          </a:p>
        </p:txBody>
      </p:sp>
      <p:grpSp>
        <p:nvGrpSpPr>
          <p:cNvPr id="6" name="Gruppieren 5"/>
          <p:cNvGrpSpPr/>
          <p:nvPr/>
        </p:nvGrpSpPr>
        <p:grpSpPr bwMode="auto">
          <a:xfrm>
            <a:off x="9642270" y="5662678"/>
            <a:ext cx="2341086" cy="874857"/>
            <a:chOff x="4284919" y="3959163"/>
            <a:chExt cx="2341086" cy="874857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3">
              <a:biLevel thresh="25000"/>
            </a:blip>
            <a:stretch/>
          </p:blipFill>
          <p:spPr bwMode="auto">
            <a:xfrm>
              <a:off x="4516158" y="3959163"/>
              <a:ext cx="2109847" cy="615793"/>
            </a:xfrm>
            <a:prstGeom prst="rect">
              <a:avLst/>
            </a:prstGeom>
          </p:spPr>
        </p:pic>
        <p:sp>
          <p:nvSpPr>
            <p:cNvPr id="8" name="Textfeld 7"/>
            <p:cNvSpPr txBox="1"/>
            <p:nvPr/>
          </p:nvSpPr>
          <p:spPr bwMode="auto">
            <a:xfrm>
              <a:off x="4284919" y="4603188"/>
              <a:ext cx="17427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de-DE" sz="900" b="1">
                  <a:latin typeface="Arial"/>
                  <a:cs typeface="Arial"/>
                </a:rPr>
                <a:t>Engineering for Smart Cities</a:t>
              </a: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FC3A4A3-477A-AB06-C2A6-0EE5068048E0}"/>
              </a:ext>
            </a:extLst>
          </p:cNvPr>
          <p:cNvSpPr txBox="1"/>
          <p:nvPr/>
        </p:nvSpPr>
        <p:spPr bwMode="auto">
          <a:xfrm>
            <a:off x="489167" y="4909143"/>
            <a:ext cx="3848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Aakarsh Dhariwal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17351" y="6634666"/>
            <a:ext cx="849593" cy="123111"/>
          </a:xfrm>
        </p:spPr>
        <p:txBody>
          <a:bodyPr/>
          <a:lstStyle/>
          <a:p>
            <a:pPr>
              <a:defRPr/>
            </a:pPr>
            <a:fld id="{FF995A69-AFE0-BE46-9D1B-EFB30EB6ABDD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>
          <a:xfrm>
            <a:off x="518319" y="6634666"/>
            <a:ext cx="5469732" cy="123111"/>
          </a:xfrm>
        </p:spPr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2</a:t>
            </a:fld>
            <a:endParaRPr lang="de-DE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r>
              <a:rPr lang="de-DE" sz="2400"/>
              <a:t>Motivation and Goals</a:t>
            </a:r>
            <a:endParaRPr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8" y="1579715"/>
            <a:ext cx="11157745" cy="467670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Motivation:</a:t>
            </a:r>
            <a:br>
              <a:rPr lang="en-US" b="1" dirty="0"/>
            </a:br>
            <a:r>
              <a:rPr lang="en-US" dirty="0"/>
              <a:t>RSS-based transmitter localization is important for WSN-based applications such as security, spectrum monitoring, and robotics.</a:t>
            </a:r>
          </a:p>
          <a:p>
            <a:pPr>
              <a:defRPr/>
            </a:pPr>
            <a:r>
              <a:rPr lang="en-US" dirty="0"/>
              <a:t>      Evaluation of two RSS based methods.</a:t>
            </a:r>
          </a:p>
          <a:p>
            <a:pPr>
              <a:defRPr/>
            </a:pPr>
            <a:r>
              <a:rPr lang="en-US" dirty="0"/>
              <a:t>      </a:t>
            </a:r>
            <a:endParaRPr lang="en-US" b="1" dirty="0"/>
          </a:p>
          <a:p>
            <a:pPr marL="285750" indent="-285750">
              <a:buFont typeface="Arial"/>
              <a:buChar char="•"/>
              <a:defRPr/>
            </a:pPr>
            <a:r>
              <a:rPr lang="en-US" b="1" dirty="0"/>
              <a:t>Main goal:</a:t>
            </a:r>
            <a:br>
              <a:rPr lang="en-US" b="1" dirty="0"/>
            </a:br>
            <a:r>
              <a:rPr lang="en-US" dirty="0"/>
              <a:t>Localizing an active transmitter and estimating power.</a:t>
            </a:r>
            <a:br>
              <a:rPr lang="en-US" b="1" dirty="0"/>
            </a:br>
            <a:r>
              <a:rPr lang="en-US" b="1" dirty="0"/>
              <a:t>→ </a:t>
            </a:r>
            <a:r>
              <a:rPr lang="en-US" dirty="0"/>
              <a:t>Estimating power to construct a REM.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endParaRPr lang="en-US" b="1" dirty="0"/>
          </a:p>
          <a:p>
            <a:pPr marL="285750" indent="-285750">
              <a:buFont typeface="Arial"/>
              <a:buChar char="•"/>
              <a:defRPr/>
            </a:pPr>
            <a:r>
              <a:rPr lang="en-US" b="1" dirty="0"/>
              <a:t>Submission deadline: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dirty="0"/>
              <a:t>02.10.2023	→	!! 2 days left !!</a:t>
            </a:r>
            <a:endParaRPr dirty="0"/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b="1" dirty="0"/>
              <a:t>Current goal:</a:t>
            </a:r>
            <a:br>
              <a:rPr lang="en-US" b="1" dirty="0"/>
            </a:br>
            <a:r>
              <a:rPr lang="en-US" dirty="0"/>
              <a:t>Submission on Monday and a bit of relief</a:t>
            </a:r>
            <a:r>
              <a:rPr lang="en-US" b="1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17351" y="6634666"/>
            <a:ext cx="849593" cy="123111"/>
          </a:xfrm>
        </p:spPr>
        <p:txBody>
          <a:bodyPr/>
          <a:lstStyle/>
          <a:p>
            <a:pPr>
              <a:defRPr/>
            </a:pPr>
            <a:fld id="{FF995A69-AFE0-BE46-9D1B-EFB30EB6ABDD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>
          <a:xfrm>
            <a:off x="518319" y="6634666"/>
            <a:ext cx="5469732" cy="123111"/>
          </a:xfrm>
        </p:spPr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3</a:t>
            </a:fld>
            <a:endParaRPr lang="de-DE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r>
              <a:rPr lang="de-DE"/>
              <a:t>Algorithms</a:t>
            </a:r>
            <a:endParaRPr lang="de-DE" sz="240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8" y="1631156"/>
            <a:ext cx="8225387" cy="4569619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dirty="0"/>
              <a:t>First approach: Implementing MSE and </a:t>
            </a:r>
            <a:r>
              <a:rPr lang="en-US" dirty="0" err="1"/>
              <a:t>LIvE</a:t>
            </a:r>
            <a:r>
              <a:rPr lang="en-US" dirty="0"/>
              <a:t> based localization methods</a:t>
            </a:r>
            <a:endParaRPr dirty="0"/>
          </a:p>
          <a:p>
            <a:pPr marL="285750" indent="-285750">
              <a:buFont typeface="Arial"/>
              <a:buChar char="•"/>
              <a:defRPr/>
            </a:pPr>
            <a:r>
              <a:rPr lang="en-US" dirty="0"/>
              <a:t>Result: </a:t>
            </a:r>
          </a:p>
          <a:p>
            <a:pPr marL="1185750" lvl="5" indent="-285750">
              <a:buFont typeface="Arial"/>
              <a:buChar char="•"/>
              <a:defRPr/>
            </a:pPr>
            <a:r>
              <a:rPr lang="en-US" dirty="0"/>
              <a:t>Choosing appropriate path-loss model.</a:t>
            </a:r>
          </a:p>
          <a:p>
            <a:pPr marL="1185750" lvl="5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Localization error for MSE against number of sensors.                           </a:t>
            </a:r>
          </a:p>
          <a:p>
            <a:pPr marL="28575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 I was stuck at implementing </a:t>
            </a:r>
            <a:r>
              <a:rPr lang="en-US" dirty="0" err="1"/>
              <a:t>LIvE</a:t>
            </a:r>
            <a:r>
              <a:rPr lang="en-US" dirty="0"/>
              <a:t> method and finding the solution to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lang="en-US" dirty="0"/>
              <a:t>      solve its non-linear constraints.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Simulations performed using MATLAB.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D79977-A44B-25FA-4DFF-13C7158497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553" y="2474803"/>
            <a:ext cx="5200447" cy="3901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17351" y="6634666"/>
            <a:ext cx="849593" cy="123111"/>
          </a:xfrm>
        </p:spPr>
        <p:txBody>
          <a:bodyPr/>
          <a:lstStyle/>
          <a:p>
            <a:pPr>
              <a:defRPr/>
            </a:pPr>
            <a:fld id="{FF995A69-AFE0-BE46-9D1B-EFB30EB6ABDD}" type="datetime4">
              <a:rPr lang="de-DE"/>
              <a:t>28. September 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>
          <a:xfrm>
            <a:off x="518319" y="6634666"/>
            <a:ext cx="5469732" cy="123111"/>
          </a:xfrm>
        </p:spPr>
        <p:txBody>
          <a:bodyPr/>
          <a:lstStyle/>
          <a:p>
            <a:pPr>
              <a:defRPr/>
            </a:pPr>
            <a:r>
              <a:rPr lang="de-DE"/>
              <a:t>Lehrstuhl Elektrische Smart City Systeme</a:t>
            </a:r>
            <a:endParaRPr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482099" y="6634666"/>
            <a:ext cx="193964" cy="123111"/>
          </a:xfrm>
        </p:spPr>
        <p:txBody>
          <a:bodyPr/>
          <a:lstStyle/>
          <a:p>
            <a:pPr>
              <a:defRPr/>
            </a:pPr>
            <a:fld id="{D949F9DF-37BD-4CD6-BF49-65BA579E1D7A}" type="slidenum">
              <a:rPr lang="de-DE"/>
              <a:t>4</a:t>
            </a:fld>
            <a:endParaRPr lang="de-DE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 bwMode="auto">
          <a:xfrm>
            <a:off x="518318" y="301185"/>
            <a:ext cx="6844385" cy="332399"/>
          </a:xfrm>
        </p:spPr>
        <p:txBody>
          <a:bodyPr/>
          <a:lstStyle/>
          <a:p>
            <a:pPr>
              <a:defRPr/>
            </a:pPr>
            <a:r>
              <a:rPr lang="de-DE"/>
              <a:t>Last achieved</a:t>
            </a:r>
            <a:endParaRPr lang="de-DE" sz="240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37"/>
          </p:nvPr>
        </p:nvSpPr>
        <p:spPr bwMode="auto">
          <a:xfrm>
            <a:off x="517525" y="687388"/>
            <a:ext cx="6845300" cy="249237"/>
          </a:xfrm>
        </p:spPr>
        <p:txBody>
          <a:bodyPr/>
          <a:lstStyle/>
          <a:p>
            <a:pPr>
              <a:defRPr/>
            </a:pPr>
            <a:r>
              <a:rPr lang="de-DE" dirty="0"/>
              <a:t>What I‘ve been doing the last 2 months</a:t>
            </a:r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3"/>
          </p:nvPr>
        </p:nvSpPr>
        <p:spPr bwMode="auto">
          <a:xfrm>
            <a:off x="518319" y="1579716"/>
            <a:ext cx="10663028" cy="1452242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dirty="0"/>
              <a:t>Finishing up the report.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dirty="0"/>
              <a:t>Constructing REM based on results from localization methods.</a:t>
            </a:r>
          </a:p>
          <a:p>
            <a:pPr marL="285750" indent="-285750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Literature review on relevance and benefits of REMs in 5G </a:t>
            </a:r>
          </a:p>
          <a:p>
            <a:pPr>
              <a:spcAft>
                <a:spcPts val="0"/>
              </a:spcAft>
              <a:defRPr/>
            </a:pPr>
            <a:r>
              <a:rPr lang="en-US" dirty="0"/>
              <a:t>     use cases.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F8534D-F43F-BDC5-BC92-2D2B4B1C89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94" y="3429000"/>
            <a:ext cx="5792194" cy="27120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1B51F5-69EF-A73B-8802-2BBFA36BE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388" y="1605761"/>
            <a:ext cx="5495655" cy="44405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6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</TotalTime>
  <Words>238</Words>
  <Application>Microsoft Office PowerPoint</Application>
  <DocSecurity>0</DocSecurity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Symbol</vt:lpstr>
      <vt:lpstr>FAU - Technische Fakultät</vt:lpstr>
      <vt:lpstr>Monthly Students Meeting (MSM) –  RSS-based transmitter localization  using distributed spectrum sensing  in 5G networks</vt:lpstr>
      <vt:lpstr>Motivation and Goals</vt:lpstr>
      <vt:lpstr>Algorithms</vt:lpstr>
      <vt:lpstr>Last achieved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subject/>
  <dc:creator>Julia Gutschmidt</dc:creator>
  <cp:keywords/>
  <dc:description/>
  <cp:lastModifiedBy>aakarsh dhariwal</cp:lastModifiedBy>
  <cp:revision>1170</cp:revision>
  <dcterms:created xsi:type="dcterms:W3CDTF">2021-11-18T07:49:57Z</dcterms:created>
  <dcterms:modified xsi:type="dcterms:W3CDTF">2023-09-28T21:28:33Z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