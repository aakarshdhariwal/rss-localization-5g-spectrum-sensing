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714" r:id="rId6"/>
    <p:sldMasterId id="2147483735" r:id="rId7"/>
    <p:sldMasterId id="2147483756" r:id="rId8"/>
  </p:sldMasterIdLst>
  <p:notesMasterIdLst>
    <p:notesMasterId r:id="rId47"/>
  </p:notesMasterIdLst>
  <p:handoutMasterIdLst>
    <p:handoutMasterId r:id="rId48"/>
  </p:handoutMasterIdLst>
  <p:sldIdLst>
    <p:sldId id="386" r:id="rId9"/>
    <p:sldId id="451" r:id="rId10"/>
    <p:sldId id="447" r:id="rId11"/>
    <p:sldId id="419" r:id="rId12"/>
    <p:sldId id="477" r:id="rId13"/>
    <p:sldId id="412" r:id="rId14"/>
    <p:sldId id="448" r:id="rId15"/>
    <p:sldId id="452" r:id="rId16"/>
    <p:sldId id="483" r:id="rId17"/>
    <p:sldId id="455" r:id="rId18"/>
    <p:sldId id="456" r:id="rId19"/>
    <p:sldId id="484" r:id="rId20"/>
    <p:sldId id="467" r:id="rId21"/>
    <p:sldId id="485" r:id="rId22"/>
    <p:sldId id="459" r:id="rId23"/>
    <p:sldId id="460" r:id="rId24"/>
    <p:sldId id="486" r:id="rId25"/>
    <p:sldId id="462" r:id="rId26"/>
    <p:sldId id="463" r:id="rId27"/>
    <p:sldId id="487" r:id="rId28"/>
    <p:sldId id="465" r:id="rId29"/>
    <p:sldId id="488" r:id="rId30"/>
    <p:sldId id="468" r:id="rId31"/>
    <p:sldId id="469" r:id="rId32"/>
    <p:sldId id="489" r:id="rId33"/>
    <p:sldId id="472" r:id="rId34"/>
    <p:sldId id="473" r:id="rId35"/>
    <p:sldId id="490" r:id="rId36"/>
    <p:sldId id="476" r:id="rId37"/>
    <p:sldId id="475" r:id="rId38"/>
    <p:sldId id="494" r:id="rId39"/>
    <p:sldId id="482" r:id="rId40"/>
    <p:sldId id="480" r:id="rId41"/>
    <p:sldId id="418" r:id="rId42"/>
    <p:sldId id="425" r:id="rId43"/>
    <p:sldId id="493" r:id="rId44"/>
    <p:sldId id="424" r:id="rId45"/>
    <p:sldId id="446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946E11-76DD-433E-BE16-C92C2B5AF2AB}">
          <p14:sldIdLst>
            <p14:sldId id="386"/>
            <p14:sldId id="451"/>
            <p14:sldId id="447"/>
            <p14:sldId id="419"/>
            <p14:sldId id="477"/>
            <p14:sldId id="412"/>
            <p14:sldId id="448"/>
            <p14:sldId id="452"/>
            <p14:sldId id="483"/>
            <p14:sldId id="455"/>
            <p14:sldId id="456"/>
            <p14:sldId id="484"/>
            <p14:sldId id="467"/>
            <p14:sldId id="485"/>
            <p14:sldId id="459"/>
            <p14:sldId id="460"/>
            <p14:sldId id="486"/>
            <p14:sldId id="462"/>
            <p14:sldId id="463"/>
          </p14:sldIdLst>
        </p14:section>
        <p14:section name="Untitled Section" id="{24A9409F-8A94-461F-AB25-2AE71F4EA910}">
          <p14:sldIdLst>
            <p14:sldId id="487"/>
            <p14:sldId id="465"/>
            <p14:sldId id="488"/>
            <p14:sldId id="468"/>
            <p14:sldId id="469"/>
            <p14:sldId id="489"/>
            <p14:sldId id="472"/>
            <p14:sldId id="473"/>
            <p14:sldId id="490"/>
            <p14:sldId id="476"/>
            <p14:sldId id="475"/>
            <p14:sldId id="494"/>
            <p14:sldId id="482"/>
            <p14:sldId id="480"/>
            <p14:sldId id="418"/>
            <p14:sldId id="425"/>
            <p14:sldId id="493"/>
            <p14:sldId id="424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rsh dhariwal" initials="ad" lastIdx="19" clrIdx="0">
    <p:extLst>
      <p:ext uri="{19B8F6BF-5375-455C-9EA6-DF929625EA0E}">
        <p15:presenceInfo xmlns:p15="http://schemas.microsoft.com/office/powerpoint/2012/main" userId="8c21139f732dca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E6C0"/>
    <a:srgbClr val="FFFFFF"/>
    <a:srgbClr val="FF5050"/>
    <a:srgbClr val="1B1D1C"/>
    <a:srgbClr val="99FFCC"/>
    <a:srgbClr val="FFCC66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41" autoAdjust="0"/>
  </p:normalViewPr>
  <p:slideViewPr>
    <p:cSldViewPr snapToGrid="0" showGuides="1">
      <p:cViewPr varScale="1">
        <p:scale>
          <a:sx n="66" d="100"/>
          <a:sy n="66" d="100"/>
        </p:scale>
        <p:origin x="668" y="56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image" Target="../media/image220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image" Target="../media/image28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/>
      <dgm:t>
        <a:bodyPr/>
        <a:lstStyle/>
        <a:p>
          <a:r>
            <a:rPr lang="en-US" dirty="0"/>
            <a:t>Problem formulation</a:t>
          </a:r>
          <a:endParaRPr lang="en-IN" dirty="0"/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54B7DF72-BE40-44A5-B12F-40873FC5202F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𝐴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=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𝑏</m:t>
                  </m:r>
                </m:oMath>
              </a14:m>
              <a:r>
                <a:rPr lang="en-US" dirty="0"/>
                <a:t>      (3)</a:t>
              </a:r>
              <a:endParaRPr lang="en-IN" dirty="0"/>
            </a:p>
          </dgm:t>
        </dgm:pt>
      </mc:Choice>
      <mc:Fallback xmlns="">
        <dgm:pt modelId="{54B7DF72-BE40-44A5-B12F-40873FC5202F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𝐴𝜃=𝑏</a:t>
              </a:r>
              <a:r>
                <a:rPr lang="en-US" dirty="0"/>
                <a:t>      (3)</a:t>
              </a:r>
              <a:endParaRPr lang="en-IN" dirty="0"/>
            </a:p>
          </dgm:t>
        </dgm:pt>
      </mc:Fallback>
    </mc:AlternateConten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/>
            <a:t>MSE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b="1" dirty="0"/>
            <a:t>Result</a:t>
          </a:r>
          <a:endParaRPr lang="en-IN" sz="1600" b="1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6681413F-ACDE-411D-A3BD-6CEF6C2F2DCA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n-IN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</m:oMath>
              </a14:m>
              <a:r>
                <a:rPr lang="en-IN" dirty="0"/>
                <a:t>  random combinations of sensors.</a:t>
              </a:r>
            </a:p>
          </dgm:t>
        </dgm:pt>
      </mc:Choice>
      <mc:Fallback xmlns="">
        <dgm:pt modelId="{6681413F-ACDE-411D-A3BD-6CEF6C2F2DCA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〖</a:t>
              </a:r>
              <a:r>
                <a:rPr lang="en-US" b="0" i="0">
                  <a:latin typeface="Cambria Math" panose="02040503050406030204" pitchFamily="18" charset="0"/>
                </a:rPr>
                <a:t>𝐶</a:t>
              </a:r>
              <a:r>
                <a:rPr lang="en-IN" b="0" i="0">
                  <a:latin typeface="Cambria Math" panose="02040503050406030204" pitchFamily="18" charset="0"/>
                </a:rPr>
                <a:t>^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r>
                <a:rPr lang="en-IN" b="0" i="0">
                  <a:latin typeface="Cambria Math" panose="02040503050406030204" pitchFamily="18" charset="0"/>
                </a:rPr>
                <a:t>〗_</a:t>
              </a:r>
              <a:r>
                <a:rPr lang="en-US" b="0" i="0">
                  <a:latin typeface="Cambria Math" panose="02040503050406030204" pitchFamily="18" charset="0"/>
                </a:rPr>
                <a:t>4</a:t>
              </a:r>
              <a:r>
                <a:rPr lang="en-IN" dirty="0"/>
                <a:t>  random combinations of sensors.</a:t>
              </a:r>
            </a:p>
          </dgm:t>
        </dgm:pt>
      </mc:Fallback>
    </mc:AlternateConten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US" dirty="0"/>
            <a:t>A: input parameter matrix</a:t>
          </a:r>
          <a:endParaRPr lang="en-IN" dirty="0"/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EFEF2593-4906-46C2-8E3C-A123D6D6FD6E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US" smtClean="0">
                      <a:latin typeface="Cambria Math" panose="02040503050406030204" pitchFamily="18" charset="0"/>
                    </a:rPr>
                    <m:t>: </m:t>
                  </m:r>
                </m:oMath>
              </a14:m>
              <a:r>
                <a:rPr lang="en-US" dirty="0"/>
                <a:t>unknown parameter</a:t>
              </a:r>
              <a:endParaRPr lang="en-IN" dirty="0"/>
            </a:p>
          </dgm:t>
        </dgm:pt>
      </mc:Choice>
      <mc:Fallback xmlns="">
        <dgm:pt modelId="{EFEF2593-4906-46C2-8E3C-A123D6D6FD6E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𝜃</a:t>
              </a:r>
              <a:r>
                <a:rPr lang="en-US" i="0">
                  <a:latin typeface="Cambria Math" panose="02040503050406030204" pitchFamily="18" charset="0"/>
                </a:rPr>
                <a:t>: </a:t>
              </a:r>
              <a:r>
                <a:rPr lang="en-US" dirty="0"/>
                <a:t>unknown parameter</a:t>
              </a:r>
              <a:endParaRPr lang="en-IN" dirty="0"/>
            </a:p>
          </dgm:t>
        </dgm:pt>
      </mc:Fallback>
    </mc:AlternateConten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US" dirty="0"/>
            <a:t>b: output parameter vector                                      </a:t>
          </a:r>
          <a:endParaRPr lang="en-IN" dirty="0"/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2530D852-EF78-489D-9EF2-18EDA7DA4393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n-IN" sz="180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 lang="en-US" sz="1800" i="1">
                          <a:latin typeface="Cambria Math" panose="02040503050406030204" pitchFamily="18" charset="0"/>
                        </a:rPr>
                        <m:t>𝑜𝑝𝑡</m:t>
                      </m:r>
                    </m:sub>
                  </m:sSub>
                  <m:r>
                    <a:rPr lang="en-US" sz="1800" i="1">
                      <a:latin typeface="Cambria Math" panose="02040503050406030204" pitchFamily="18" charset="0"/>
                    </a:rPr>
                    <m:t>=</m:t>
                  </m:r>
                  <m:r>
                    <a:rPr lang="en-US" sz="1800" b="0" i="1" smtClean="0">
                      <a:latin typeface="Cambria Math" panose="02040503050406030204" pitchFamily="18" charset="0"/>
                    </a:rPr>
                    <m:t> </m:t>
                  </m:r>
                  <m:d>
                    <m:dPr>
                      <m:ctrlPr>
                        <a:rPr lang="en-US" sz="1800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e>
                  </m:d>
                </m:oMath>
              </a14:m>
              <a:r>
                <a:rPr lang="en-IN" sz="1700" dirty="0"/>
                <a:t>     </a:t>
              </a:r>
              <a:r>
                <a:rPr lang="en-IN" sz="1500" dirty="0"/>
                <a:t>(4)</a:t>
              </a:r>
            </a:p>
          </dgm:t>
        </dgm:pt>
      </mc:Choice>
      <mc:Fallback xmlns="">
        <dgm:pt modelId="{2530D852-EF78-489D-9EF2-18EDA7DA4393}">
          <dgm:prSet phldrT="[Text]" custT="1"/>
          <dgm:spPr/>
          <dgm:t>
            <a:bodyPr/>
            <a:lstStyle/>
            <a:p>
              <a:r>
                <a:rPr lang="en-IN" sz="1800" i="0">
                  <a:latin typeface="Cambria Math" panose="02040503050406030204" pitchFamily="18" charset="0"/>
                </a:rPr>
                <a:t>〖</a:t>
              </a:r>
              <a:r>
                <a:rPr lang="en-US" sz="1800" b="0" i="0">
                  <a:latin typeface="Cambria Math" panose="02040503050406030204" pitchFamily="18" charset="0"/>
                </a:rPr>
                <a:t>        </a:t>
              </a:r>
              <a:r>
                <a:rPr lang="en-US" sz="1800" i="0">
                  <a:latin typeface="Cambria Math" panose="02040503050406030204" pitchFamily="18" charset="0"/>
                </a:rPr>
                <a:t>𝜃</a:t>
              </a:r>
              <a:r>
                <a:rPr lang="en-IN" sz="1800" i="0">
                  <a:latin typeface="Cambria Math" panose="02040503050406030204" pitchFamily="18" charset="0"/>
                </a:rPr>
                <a:t>〗_</a:t>
              </a:r>
              <a:r>
                <a:rPr lang="en-US" sz="1800" i="0">
                  <a:latin typeface="Cambria Math" panose="02040503050406030204" pitchFamily="18" charset="0"/>
                </a:rPr>
                <a:t>𝑜𝑝𝑡=</a:t>
              </a:r>
              <a:r>
                <a:rPr lang="en-US" sz="1800" b="0" i="0">
                  <a:latin typeface="Cambria Math" panose="02040503050406030204" pitchFamily="18" charset="0"/>
                </a:rPr>
                <a:t> ((</a:t>
              </a:r>
              <a:r>
                <a:rPr lang="en-US" sz="1800" i="0">
                  <a:latin typeface="Cambria Math" panose="02040503050406030204" pitchFamily="18" charset="0"/>
                </a:rPr>
                <a:t>∑𝐴</a:t>
              </a:r>
              <a:r>
                <a:rPr lang="en-IN" sz="1800" i="0">
                  <a:latin typeface="Cambria Math" panose="02040503050406030204" pitchFamily="18" charset="0"/>
                </a:rPr>
                <a:t>_</a:t>
              </a:r>
              <a:r>
                <a:rPr lang="en-US" sz="1800" i="0">
                  <a:latin typeface="Cambria Math" panose="02040503050406030204" pitchFamily="18" charset="0"/>
                </a:rPr>
                <a:t>𝑖^𝑇</a:t>
              </a:r>
              <a:r>
                <a:rPr lang="en-IN" sz="1800" i="0">
                  <a:latin typeface="Cambria Math" panose="02040503050406030204" pitchFamily="18" charset="0"/>
                </a:rPr>
                <a:t> </a:t>
              </a:r>
              <a:r>
                <a:rPr lang="en-US" sz="1800" i="0">
                  <a:latin typeface="Cambria Math" panose="02040503050406030204" pitchFamily="18" charset="0"/>
                </a:rPr>
                <a:t>𝑏</a:t>
              </a:r>
              <a:r>
                <a:rPr lang="en-IN" sz="1800" i="0">
                  <a:latin typeface="Cambria Math" panose="02040503050406030204" pitchFamily="18" charset="0"/>
                </a:rPr>
                <a:t>_</a:t>
              </a:r>
              <a:r>
                <a:rPr lang="en-US" sz="1800" i="0">
                  <a:latin typeface="Cambria Math" panose="02040503050406030204" pitchFamily="18" charset="0"/>
                </a:rPr>
                <a:t>𝑖</a:t>
              </a:r>
              <a:r>
                <a:rPr lang="en-US" sz="1800" b="0" i="0">
                  <a:latin typeface="Cambria Math" panose="02040503050406030204" pitchFamily="18" charset="0"/>
                </a:rPr>
                <a:t>)/(</a:t>
              </a:r>
              <a:r>
                <a:rPr lang="en-US" sz="1800" i="0">
                  <a:latin typeface="Cambria Math" panose="02040503050406030204" pitchFamily="18" charset="0"/>
                </a:rPr>
                <a:t>∑𝐴</a:t>
              </a:r>
              <a:r>
                <a:rPr lang="en-IN" sz="1800" i="0">
                  <a:latin typeface="Cambria Math" panose="02040503050406030204" pitchFamily="18" charset="0"/>
                </a:rPr>
                <a:t>_</a:t>
              </a:r>
              <a:r>
                <a:rPr lang="en-US" sz="1800" i="0">
                  <a:latin typeface="Cambria Math" panose="02040503050406030204" pitchFamily="18" charset="0"/>
                </a:rPr>
                <a:t>𝑖^𝑇</a:t>
              </a:r>
              <a:r>
                <a:rPr lang="en-IN" sz="1800" i="0">
                  <a:latin typeface="Cambria Math" panose="02040503050406030204" pitchFamily="18" charset="0"/>
                </a:rPr>
                <a:t> </a:t>
              </a:r>
              <a:r>
                <a:rPr lang="en-US" sz="1800" i="0">
                  <a:latin typeface="Cambria Math" panose="02040503050406030204" pitchFamily="18" charset="0"/>
                </a:rPr>
                <a:t>𝐴</a:t>
              </a:r>
              <a:r>
                <a:rPr lang="en-IN" sz="1800" i="0">
                  <a:latin typeface="Cambria Math" panose="02040503050406030204" pitchFamily="18" charset="0"/>
                </a:rPr>
                <a:t>_</a:t>
              </a:r>
              <a:r>
                <a:rPr lang="en-US" sz="1800" i="0">
                  <a:latin typeface="Cambria Math" panose="02040503050406030204" pitchFamily="18" charset="0"/>
                </a:rPr>
                <a:t>𝑖 </a:t>
              </a:r>
              <a:r>
                <a:rPr lang="en-US" sz="1800" b="0" i="0">
                  <a:latin typeface="Cambria Math" panose="02040503050406030204" pitchFamily="18" charset="0"/>
                </a:rPr>
                <a:t>))</a:t>
              </a:r>
              <a:r>
                <a:rPr lang="en-IN" sz="1700" dirty="0"/>
                <a:t>     </a:t>
              </a:r>
              <a:r>
                <a:rPr lang="en-IN" sz="1500" dirty="0"/>
                <a:t>(4)</a:t>
              </a:r>
            </a:p>
          </dgm:t>
        </dgm:pt>
      </mc:Fallback>
    </mc:AlternateConten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 custLinFactNeighborX="-1177" custLinFactNeighborY="9200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3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4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02401B22-F28F-4186-AD47-A8784EEE88A8}" srcId="{734FE17E-B2AA-4F50-97DC-551B91D021DF}" destId="{AFCEAEBB-7C37-4480-B406-07717FBCFDDC}" srcOrd="4" destOrd="0" parTransId="{FA538164-7C83-4CF5-B4FD-B05F5B058C7A}" sibTransId="{3A1E6875-E18D-475C-87B3-5CF9AD787F2A}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34563D38-9A69-4616-8C40-DE3213093EF4}" type="presOf" srcId="{AFCEAEBB-7C37-4480-B406-07717FBCFDDC}" destId="{5643D9B0-D6C7-443B-9075-884036688BC1}" srcOrd="1" destOrd="4" presId="urn:microsoft.com/office/officeart/2005/8/layout/hProcess4"/>
    <dgm:cxn modelId="{19941B3A-71D3-41DB-BAB9-9087154EA158}" srcId="{734FE17E-B2AA-4F50-97DC-551B91D021DF}" destId="{54B7DF72-BE40-44A5-B12F-40873FC5202F}" srcOrd="1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2" destOrd="0" parTransId="{AB2E63E1-7373-430C-90EF-32496A0E4E3E}" sibTransId="{3749351F-E04D-4A03-AA25-F3F044E1F164}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A2E09E6D-4A4E-42D1-89FB-2F38ABFBE59F}" type="presOf" srcId="{EFEF2593-4906-46C2-8E3C-A123D6D6FD6E}" destId="{5643D9B0-D6C7-443B-9075-884036688BC1}" srcOrd="1" destOrd="3" presId="urn:microsoft.com/office/officeart/2005/8/layout/hProcess4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2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2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3" presId="urn:microsoft.com/office/officeart/2005/8/layout/hProcess4"/>
    <dgm:cxn modelId="{C0F5C0E1-18F5-4B31-8EA5-46AAF6A37CFE}" type="presOf" srcId="{54B7DF72-BE40-44A5-B12F-40873FC5202F}" destId="{5643D9B0-D6C7-443B-9075-884036688BC1}" srcOrd="1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1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>
        <a:blipFill>
          <a:blip xmlns:r="http://schemas.openxmlformats.org/officeDocument/2006/relationships" r:embed="rId1"/>
          <a:stretch>
            <a:fillRect l="-1342" t="-272" r="-12752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dgm:pt modelId="{54B7DF72-BE40-44A5-B12F-40873FC5202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/>
            <a:t>MSE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b="1" dirty="0"/>
            <a:t>Result</a:t>
          </a:r>
          <a:endParaRPr lang="en-IN" sz="1600" b="1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>
        <a:blipFill>
          <a:blip xmlns:r="http://schemas.openxmlformats.org/officeDocument/2006/relationships" r:embed="rId2"/>
          <a:stretch>
            <a:fillRect l="-1345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EFEF2593-4906-46C2-8E3C-A123D6D6FD6E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2530D852-EF78-489D-9EF2-18EDA7DA4393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 custLinFactNeighborX="-1177" custLinFactNeighborY="9200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3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4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02401B22-F28F-4186-AD47-A8784EEE88A8}" srcId="{734FE17E-B2AA-4F50-97DC-551B91D021DF}" destId="{AFCEAEBB-7C37-4480-B406-07717FBCFDDC}" srcOrd="4" destOrd="0" parTransId="{FA538164-7C83-4CF5-B4FD-B05F5B058C7A}" sibTransId="{3A1E6875-E18D-475C-87B3-5CF9AD787F2A}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34563D38-9A69-4616-8C40-DE3213093EF4}" type="presOf" srcId="{AFCEAEBB-7C37-4480-B406-07717FBCFDDC}" destId="{5643D9B0-D6C7-443B-9075-884036688BC1}" srcOrd="1" destOrd="4" presId="urn:microsoft.com/office/officeart/2005/8/layout/hProcess4"/>
    <dgm:cxn modelId="{19941B3A-71D3-41DB-BAB9-9087154EA158}" srcId="{734FE17E-B2AA-4F50-97DC-551B91D021DF}" destId="{54B7DF72-BE40-44A5-B12F-40873FC5202F}" srcOrd="1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2" destOrd="0" parTransId="{AB2E63E1-7373-430C-90EF-32496A0E4E3E}" sibTransId="{3749351F-E04D-4A03-AA25-F3F044E1F164}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A2E09E6D-4A4E-42D1-89FB-2F38ABFBE59F}" type="presOf" srcId="{EFEF2593-4906-46C2-8E3C-A123D6D6FD6E}" destId="{5643D9B0-D6C7-443B-9075-884036688BC1}" srcOrd="1" destOrd="3" presId="urn:microsoft.com/office/officeart/2005/8/layout/hProcess4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2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2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3" presId="urn:microsoft.com/office/officeart/2005/8/layout/hProcess4"/>
    <dgm:cxn modelId="{C0F5C0E1-18F5-4B31-8EA5-46AAF6A37CFE}" type="presOf" srcId="{54B7DF72-BE40-44A5-B12F-40873FC5202F}" destId="{5643D9B0-D6C7-443B-9075-884036688BC1}" srcOrd="1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1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/>
      <dgm:t>
        <a:bodyPr/>
        <a:lstStyle/>
        <a:p>
          <a:r>
            <a:rPr lang="en-US" dirty="0"/>
            <a:t>Problem formulation</a:t>
          </a:r>
          <a:endParaRPr lang="en-IN" dirty="0"/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54B7DF72-BE40-44A5-B12F-40873FC5202F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𝐴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=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𝑏</m:t>
                  </m:r>
                </m:oMath>
              </a14:m>
              <a:r>
                <a:rPr lang="en-US" dirty="0"/>
                <a:t>      (3)</a:t>
              </a:r>
              <a:endParaRPr lang="en-IN" dirty="0"/>
            </a:p>
          </dgm:t>
        </dgm:pt>
      </mc:Choice>
      <mc:Fallback xmlns="">
        <dgm:pt modelId="{54B7DF72-BE40-44A5-B12F-40873FC5202F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𝐴𝜃=𝑏</a:t>
              </a:r>
              <a:r>
                <a:rPr lang="en-US" dirty="0"/>
                <a:t>      (3)</a:t>
              </a:r>
              <a:endParaRPr lang="en-IN" dirty="0"/>
            </a:p>
          </dgm:t>
        </dgm:pt>
      </mc:Fallback>
    </mc:AlternateConten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0" dirty="0" err="1"/>
            <a:t>LIvE</a:t>
          </a:r>
          <a:r>
            <a:rPr lang="en-US" sz="1600" b="1" dirty="0"/>
            <a:t> </a:t>
          </a:r>
          <a:r>
            <a:rPr lang="en-US" sz="1600" b="0" dirty="0"/>
            <a:t>solution</a:t>
          </a:r>
          <a:endParaRPr lang="en-IN" sz="1600" b="0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2530D852-EF78-489D-9EF2-18EDA7DA4393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z="1600" i="1" smtClean="0">
                      <a:latin typeface="Cambria Math" panose="02040503050406030204" pitchFamily="18" charset="0"/>
                    </a:rPr>
                    <m:t>𝐿</m:t>
                  </m:r>
                  <m:r>
                    <a:rPr lang="en-IN" sz="160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IN" sz="1600" i="1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z="1600" i="1" smtClean="0">
                      <a:latin typeface="Cambria Math" panose="02040503050406030204" pitchFamily="18" charset="0"/>
                    </a:rPr>
                    <m:t>,</m:t>
                  </m:r>
                  <m:r>
                    <a:rPr lang="en-IN" sz="1600" i="1" smtClean="0">
                      <a:latin typeface="Cambria Math" panose="02040503050406030204" pitchFamily="18" charset="0"/>
                    </a:rPr>
                    <m:t>𝜆</m:t>
                  </m:r>
                  <m:r>
                    <a:rPr lang="en-IN" sz="1600" i="1" smtClean="0">
                      <a:latin typeface="Cambria Math" panose="02040503050406030204" pitchFamily="18" charset="0"/>
                    </a:rPr>
                    <m:t>) = </m:t>
                  </m:r>
                  <m:sSup>
                    <m:sSupPr>
                      <m:ctrlPr>
                        <a:rPr lang="en-IN" sz="16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lang="en-IN" sz="16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600" i="1">
                      <a:latin typeface="Cambria Math" panose="02040503050406030204" pitchFamily="18" charset="0"/>
                    </a:rPr>
                    <m:t> (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𝐴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 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−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𝑏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) + 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𝜆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(</m:t>
                  </m:r>
                  <m:sSup>
                    <m:sSupPr>
                      <m:ctrlPr>
                        <a:rPr lang="en-IN" sz="16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600" i="1">
                          <a:latin typeface="Cambria Math" panose="02040503050406030204" pitchFamily="18" charset="0"/>
                        </a:rPr>
                        <m:t>𝑟</m:t>
                      </m:r>
                    </m:e>
                    <m:sup>
                      <m:r>
                        <a:rPr lang="en-IN" sz="16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6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+ </m:t>
                  </m:r>
                  <m:sSup>
                    <m:sSupPr>
                      <m:ctrlPr>
                        <a:rPr lang="en-IN" sz="16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600" i="1">
                          <a:latin typeface="Cambria Math" panose="02040503050406030204" pitchFamily="18" charset="0"/>
                        </a:rPr>
                        <m:t>𝜃</m:t>
                      </m:r>
                    </m:e>
                    <m:sup>
                      <m:r>
                        <a:rPr lang="en-IN" sz="16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600" i="1">
                      <a:latin typeface="Cambria Math" panose="02040503050406030204" pitchFamily="18" charset="0"/>
                    </a:rPr>
                    <m:t>𝑃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600" i="1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IN" sz="1600" dirty="0"/>
                <a:t>    (7)</a:t>
              </a:r>
              <a:r>
                <a:rPr lang="en-IN" sz="1200" dirty="0"/>
                <a:t>                             </a:t>
              </a:r>
            </a:p>
          </dgm:t>
        </dgm:pt>
      </mc:Choice>
      <mc:Fallback xmlns="">
        <dgm:pt modelId="{2530D852-EF78-489D-9EF2-18EDA7DA4393}">
          <dgm:prSet phldrT="[Text]" custT="1"/>
          <dgm:spPr/>
          <dgm:t>
            <a:bodyPr/>
            <a:lstStyle/>
            <a:p>
              <a:r>
                <a:rPr lang="en-IN" sz="1600" i="0">
                  <a:latin typeface="Cambria Math" panose="02040503050406030204" pitchFamily="18" charset="0"/>
                </a:rPr>
                <a:t>𝐿(𝜃,𝜆) = 〖(𝐴 𝜃−𝑏)〗^𝑇  (𝐴 𝜃−𝑏) + 𝜆(𝑟^𝑇 𝜃+ 𝜃^𝑇 𝑃𝜃)</a:t>
              </a:r>
              <a:r>
                <a:rPr lang="en-IN" sz="1600" dirty="0"/>
                <a:t>    (7)</a:t>
              </a:r>
              <a:r>
                <a:rPr lang="en-IN" sz="1200" dirty="0"/>
                <a:t>                             </a:t>
              </a:r>
            </a:p>
          </dgm:t>
        </dgm:pt>
      </mc:Fallback>
    </mc:AlternateConten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b="1" dirty="0"/>
            <a:t>Result</a:t>
          </a:r>
          <a:endParaRPr lang="en-IN" sz="1600" b="1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/>
      <dgm:t>
        <a:bodyPr/>
        <a:lstStyle/>
        <a:p>
          <a:endParaRPr lang="en-IN" dirty="0"/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US" dirty="0"/>
            <a:t>Formulating linear regression problem as in equation (3) with data from the N sensor configuration.</a:t>
          </a:r>
          <a:endParaRPr lang="en-IN" dirty="0"/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US" dirty="0"/>
            <a:t>A: input parameter matrix</a:t>
          </a:r>
          <a:endParaRPr lang="en-IN" dirty="0"/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EFEF2593-4906-46C2-8E3C-A123D6D6FD6E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US" smtClean="0">
                      <a:latin typeface="Cambria Math" panose="02040503050406030204" pitchFamily="18" charset="0"/>
                    </a:rPr>
                    <m:t>: </m:t>
                  </m:r>
                </m:oMath>
              </a14:m>
              <a:r>
                <a:rPr lang="en-US" dirty="0"/>
                <a:t>unknown parameter</a:t>
              </a:r>
              <a:endParaRPr lang="en-IN" dirty="0"/>
            </a:p>
          </dgm:t>
        </dgm:pt>
      </mc:Choice>
      <mc:Fallback xmlns="">
        <dgm:pt modelId="{EFEF2593-4906-46C2-8E3C-A123D6D6FD6E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𝜃</a:t>
              </a:r>
              <a:r>
                <a:rPr lang="en-US" i="0">
                  <a:latin typeface="Cambria Math" panose="02040503050406030204" pitchFamily="18" charset="0"/>
                </a:rPr>
                <a:t>: </a:t>
              </a:r>
              <a:r>
                <a:rPr lang="en-US" dirty="0"/>
                <a:t>unknown parameter</a:t>
              </a:r>
              <a:endParaRPr lang="en-IN" dirty="0"/>
            </a:p>
          </dgm:t>
        </dgm:pt>
      </mc:Fallback>
    </mc:AlternateConten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US" dirty="0"/>
            <a:t>b: output parameter vector                                      </a:t>
          </a:r>
          <a:endParaRPr lang="en-IN" dirty="0"/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3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4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02401B22-F28F-4186-AD47-A8784EEE88A8}" srcId="{734FE17E-B2AA-4F50-97DC-551B91D021DF}" destId="{AFCEAEBB-7C37-4480-B406-07717FBCFDDC}" srcOrd="4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34563D38-9A69-4616-8C40-DE3213093EF4}" type="presOf" srcId="{AFCEAEBB-7C37-4480-B406-07717FBCFDDC}" destId="{5643D9B0-D6C7-443B-9075-884036688BC1}" srcOrd="1" destOrd="4" presId="urn:microsoft.com/office/officeart/2005/8/layout/hProcess4"/>
    <dgm:cxn modelId="{19941B3A-71D3-41DB-BAB9-9087154EA158}" srcId="{734FE17E-B2AA-4F50-97DC-551B91D021DF}" destId="{54B7DF72-BE40-44A5-B12F-40873FC5202F}" srcOrd="1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2" destOrd="0" parTransId="{AB2E63E1-7373-430C-90EF-32496A0E4E3E}" sibTransId="{3749351F-E04D-4A03-AA25-F3F044E1F164}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A2E09E6D-4A4E-42D1-89FB-2F38ABFBE59F}" type="presOf" srcId="{EFEF2593-4906-46C2-8E3C-A123D6D6FD6E}" destId="{5643D9B0-D6C7-443B-9075-884036688BC1}" srcOrd="1" destOrd="3" presId="urn:microsoft.com/office/officeart/2005/8/layout/hProcess4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2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2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3" presId="urn:microsoft.com/office/officeart/2005/8/layout/hProcess4"/>
    <dgm:cxn modelId="{C0F5C0E1-18F5-4B31-8EA5-46AAF6A37CFE}" type="presOf" srcId="{54B7DF72-BE40-44A5-B12F-40873FC5202F}" destId="{5643D9B0-D6C7-443B-9075-884036688BC1}" srcOrd="1" destOrd="1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1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>
        <a:blipFill>
          <a:blip xmlns:r="http://schemas.openxmlformats.org/officeDocument/2006/relationships" r:embed="rId1"/>
          <a:stretch>
            <a:fillRect l="-1342" t="-272" r="-12752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dgm:pt modelId="{54B7DF72-BE40-44A5-B12F-40873FC5202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0" dirty="0" err="1"/>
            <a:t>LIvE</a:t>
          </a:r>
          <a:r>
            <a:rPr lang="en-US" sz="1600" b="1" dirty="0"/>
            <a:t> </a:t>
          </a:r>
          <a:r>
            <a:rPr lang="en-US" sz="1600" b="0" dirty="0"/>
            <a:t>solution</a:t>
          </a:r>
          <a:endParaRPr lang="en-IN" sz="1600" b="0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dgm:pt modelId="{2530D852-EF78-489D-9EF2-18EDA7DA4393}">
      <dgm:prSet phldrT="[Text]" custT="1"/>
      <dgm:spPr>
        <a:blipFill>
          <a:blip xmlns:r="http://schemas.openxmlformats.org/officeDocument/2006/relationships" r:embed="rId2"/>
          <a:stretch>
            <a:fillRect l="-1570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b="1" dirty="0"/>
            <a:t>Result</a:t>
          </a:r>
          <a:endParaRPr lang="en-IN" sz="1600" b="1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/>
      <dgm:t>
        <a:bodyPr/>
        <a:lstStyle/>
        <a:p>
          <a:endParaRPr lang="en-IN" dirty="0"/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US" dirty="0"/>
            <a:t>Formulating linear regression problem as in equation (3) with data from the N sensor configuration.</a:t>
          </a:r>
          <a:endParaRPr lang="en-IN" dirty="0"/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EFEF2593-4906-46C2-8E3C-A123D6D6FD6E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3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4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02401B22-F28F-4186-AD47-A8784EEE88A8}" srcId="{734FE17E-B2AA-4F50-97DC-551B91D021DF}" destId="{AFCEAEBB-7C37-4480-B406-07717FBCFDDC}" srcOrd="4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34563D38-9A69-4616-8C40-DE3213093EF4}" type="presOf" srcId="{AFCEAEBB-7C37-4480-B406-07717FBCFDDC}" destId="{5643D9B0-D6C7-443B-9075-884036688BC1}" srcOrd="1" destOrd="4" presId="urn:microsoft.com/office/officeart/2005/8/layout/hProcess4"/>
    <dgm:cxn modelId="{19941B3A-71D3-41DB-BAB9-9087154EA158}" srcId="{734FE17E-B2AA-4F50-97DC-551B91D021DF}" destId="{54B7DF72-BE40-44A5-B12F-40873FC5202F}" srcOrd="1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2" destOrd="0" parTransId="{AB2E63E1-7373-430C-90EF-32496A0E4E3E}" sibTransId="{3749351F-E04D-4A03-AA25-F3F044E1F164}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A2E09E6D-4A4E-42D1-89FB-2F38ABFBE59F}" type="presOf" srcId="{EFEF2593-4906-46C2-8E3C-A123D6D6FD6E}" destId="{5643D9B0-D6C7-443B-9075-884036688BC1}" srcOrd="1" destOrd="3" presId="urn:microsoft.com/office/officeart/2005/8/layout/hProcess4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2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2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3" presId="urn:microsoft.com/office/officeart/2005/8/layout/hProcess4"/>
    <dgm:cxn modelId="{C0F5C0E1-18F5-4B31-8EA5-46AAF6A37CFE}" type="presOf" srcId="{54B7DF72-BE40-44A5-B12F-40873FC5202F}" destId="{5643D9B0-D6C7-443B-9075-884036688BC1}" srcOrd="1" destOrd="1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1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7C6754-F39C-486D-B775-9075826EC1A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72BEAC-F916-4AE3-873A-3972700A333D}">
      <dgm:prSet/>
      <dgm:spPr/>
      <dgm:t>
        <a:bodyPr/>
        <a:lstStyle/>
        <a:p>
          <a:r>
            <a:rPr lang="en-US" dirty="0"/>
            <a:t>2 subframes from numerology 0.</a:t>
          </a:r>
          <a:endParaRPr lang="en-IN" dirty="0"/>
        </a:p>
      </dgm:t>
    </dgm:pt>
    <dgm:pt modelId="{4AC53C2E-3498-433E-918B-68A235D938E5}" type="parTrans" cxnId="{CF71D11A-5827-46FF-B2EB-B428FE18BA01}">
      <dgm:prSet/>
      <dgm:spPr/>
      <dgm:t>
        <a:bodyPr/>
        <a:lstStyle/>
        <a:p>
          <a:endParaRPr lang="en-IN"/>
        </a:p>
      </dgm:t>
    </dgm:pt>
    <dgm:pt modelId="{168FE6E4-84DC-443A-BB61-C4C2B28AE298}" type="sibTrans" cxnId="{CF71D11A-5827-46FF-B2EB-B428FE18BA01}">
      <dgm:prSet/>
      <dgm:spPr/>
      <dgm:t>
        <a:bodyPr/>
        <a:lstStyle/>
        <a:p>
          <a:endParaRPr lang="en-IN"/>
        </a:p>
      </dgm:t>
    </dgm:pt>
    <dgm:pt modelId="{19D211DE-4124-46BF-8FF9-6AFB794A943A}">
      <dgm:prSet/>
      <dgm:spPr/>
      <dgm:t>
        <a:bodyPr/>
        <a:lstStyle/>
        <a:p>
          <a:r>
            <a:rPr lang="en-US" dirty="0"/>
            <a:t>28</a:t>
          </a:r>
          <a:r>
            <a:rPr lang="en-US" baseline="0" dirty="0"/>
            <a:t> OFDM symbols</a:t>
          </a:r>
          <a:endParaRPr lang="en-IN" dirty="0"/>
        </a:p>
      </dgm:t>
    </dgm:pt>
    <dgm:pt modelId="{CF0B2545-D20C-4465-8EAF-FFD4410E3067}" type="parTrans" cxnId="{84CDC129-6DD0-4378-9A61-2067A0B4FE5B}">
      <dgm:prSet/>
      <dgm:spPr/>
      <dgm:t>
        <a:bodyPr/>
        <a:lstStyle/>
        <a:p>
          <a:endParaRPr lang="en-IN"/>
        </a:p>
      </dgm:t>
    </dgm:pt>
    <dgm:pt modelId="{1D6F4DB3-1316-4E05-9310-2CC912EA8E6C}" type="sibTrans" cxnId="{84CDC129-6DD0-4378-9A61-2067A0B4FE5B}">
      <dgm:prSet/>
      <dgm:spPr/>
      <dgm:t>
        <a:bodyPr/>
        <a:lstStyle/>
        <a:p>
          <a:endParaRPr lang="en-IN"/>
        </a:p>
      </dgm:t>
    </dgm:pt>
    <dgm:pt modelId="{3AEC6466-1C68-4E6A-8ADD-DC3E4326A152}">
      <dgm:prSet/>
      <dgm:spPr/>
      <dgm:t>
        <a:bodyPr/>
        <a:lstStyle/>
        <a:p>
          <a:r>
            <a:rPr lang="en-US" dirty="0"/>
            <a:t>FFT</a:t>
          </a:r>
          <a:r>
            <a:rPr lang="en-US" baseline="0" dirty="0"/>
            <a:t> size 128</a:t>
          </a:r>
          <a:endParaRPr lang="en-IN" dirty="0"/>
        </a:p>
      </dgm:t>
    </dgm:pt>
    <dgm:pt modelId="{772D29E2-7735-4134-8D55-86B551299C43}" type="parTrans" cxnId="{BD3F057B-441D-4645-82F2-461CEF9DDDB5}">
      <dgm:prSet/>
      <dgm:spPr/>
      <dgm:t>
        <a:bodyPr/>
        <a:lstStyle/>
        <a:p>
          <a:endParaRPr lang="en-IN"/>
        </a:p>
      </dgm:t>
    </dgm:pt>
    <dgm:pt modelId="{C8C91E47-3A8E-4A8F-900F-D4A5BC32D461}" type="sibTrans" cxnId="{BD3F057B-441D-4645-82F2-461CEF9DDDB5}">
      <dgm:prSet/>
      <dgm:spPr/>
      <dgm:t>
        <a:bodyPr/>
        <a:lstStyle/>
        <a:p>
          <a:endParaRPr lang="en-IN"/>
        </a:p>
      </dgm:t>
    </dgm:pt>
    <dgm:pt modelId="{54A53F4F-6F91-4E70-AE12-3F4AAFB5FF0B}">
      <dgm:prSet/>
      <dgm:spPr/>
      <dgm:t>
        <a:bodyPr/>
        <a:lstStyle/>
        <a:p>
          <a:r>
            <a:rPr lang="en-US" dirty="0"/>
            <a:t>Frequency 3.7 GHz [4].</a:t>
          </a:r>
          <a:endParaRPr lang="en-IN" dirty="0"/>
        </a:p>
      </dgm:t>
    </dgm:pt>
    <dgm:pt modelId="{0B489DFC-ED34-43C0-9E57-C2D431239A13}" type="parTrans" cxnId="{6EE6A363-76F8-4F23-BE84-1D3167C53B89}">
      <dgm:prSet/>
      <dgm:spPr/>
      <dgm:t>
        <a:bodyPr/>
        <a:lstStyle/>
        <a:p>
          <a:endParaRPr lang="en-IN"/>
        </a:p>
      </dgm:t>
    </dgm:pt>
    <dgm:pt modelId="{E3E7B5D1-C290-415C-BBB2-C2CB23742FBA}" type="sibTrans" cxnId="{6EE6A363-76F8-4F23-BE84-1D3167C53B89}">
      <dgm:prSet/>
      <dgm:spPr/>
      <dgm:t>
        <a:bodyPr/>
        <a:lstStyle/>
        <a:p>
          <a:endParaRPr lang="en-IN"/>
        </a:p>
      </dgm:t>
    </dgm:pt>
    <dgm:pt modelId="{B0CCD1B7-D559-4B71-9F0B-23500D5602F1}">
      <dgm:prSet/>
      <dgm:spPr/>
      <dgm:t>
        <a:bodyPr/>
        <a:lstStyle/>
        <a:p>
          <a:r>
            <a:rPr lang="en-US" dirty="0"/>
            <a:t>Cyclic</a:t>
          </a:r>
          <a:r>
            <a:rPr lang="en-US" baseline="0" dirty="0"/>
            <a:t> prefix 16</a:t>
          </a:r>
          <a:endParaRPr lang="en-IN" dirty="0"/>
        </a:p>
      </dgm:t>
    </dgm:pt>
    <dgm:pt modelId="{385C2700-0912-41CC-8563-698CB2DB8289}" type="parTrans" cxnId="{27219D9B-05FE-4814-A3C6-8B11965E3444}">
      <dgm:prSet/>
      <dgm:spPr/>
      <dgm:t>
        <a:bodyPr/>
        <a:lstStyle/>
        <a:p>
          <a:endParaRPr lang="en-IN"/>
        </a:p>
      </dgm:t>
    </dgm:pt>
    <dgm:pt modelId="{F6BF4CD0-19D1-4A6D-858E-9C8D0D3A6916}" type="sibTrans" cxnId="{27219D9B-05FE-4814-A3C6-8B11965E3444}">
      <dgm:prSet/>
      <dgm:spPr/>
      <dgm:t>
        <a:bodyPr/>
        <a:lstStyle/>
        <a:p>
          <a:endParaRPr lang="en-IN"/>
        </a:p>
      </dgm:t>
    </dgm:pt>
    <dgm:pt modelId="{43346244-CF04-424E-BEE8-56F5997144B6}" type="pres">
      <dgm:prSet presAssocID="{927C6754-F39C-486D-B775-9075826EC1A4}" presName="CompostProcess" presStyleCnt="0">
        <dgm:presLayoutVars>
          <dgm:dir/>
          <dgm:resizeHandles val="exact"/>
        </dgm:presLayoutVars>
      </dgm:prSet>
      <dgm:spPr/>
    </dgm:pt>
    <dgm:pt modelId="{92890228-53A8-43C7-A66A-684EFE7A08EB}" type="pres">
      <dgm:prSet presAssocID="{927C6754-F39C-486D-B775-9075826EC1A4}" presName="arrow" presStyleLbl="bgShp" presStyleIdx="0" presStyleCnt="1"/>
      <dgm:spPr/>
    </dgm:pt>
    <dgm:pt modelId="{BBF35304-08AC-41CD-901E-8681C5901F18}" type="pres">
      <dgm:prSet presAssocID="{927C6754-F39C-486D-B775-9075826EC1A4}" presName="linearProcess" presStyleCnt="0"/>
      <dgm:spPr/>
    </dgm:pt>
    <dgm:pt modelId="{880CF42C-CDB1-49EE-A156-0A4B82D54A13}" type="pres">
      <dgm:prSet presAssocID="{7172BEAC-F916-4AE3-873A-3972700A333D}" presName="textNode" presStyleLbl="node1" presStyleIdx="0" presStyleCnt="5">
        <dgm:presLayoutVars>
          <dgm:bulletEnabled val="1"/>
        </dgm:presLayoutVars>
      </dgm:prSet>
      <dgm:spPr/>
    </dgm:pt>
    <dgm:pt modelId="{5A6CF5C2-1037-49FC-8F41-921302FB3972}" type="pres">
      <dgm:prSet presAssocID="{168FE6E4-84DC-443A-BB61-C4C2B28AE298}" presName="sibTrans" presStyleCnt="0"/>
      <dgm:spPr/>
    </dgm:pt>
    <dgm:pt modelId="{01FE9472-C3A4-4876-AFB2-A011CDFACBE6}" type="pres">
      <dgm:prSet presAssocID="{19D211DE-4124-46BF-8FF9-6AFB794A943A}" presName="textNode" presStyleLbl="node1" presStyleIdx="1" presStyleCnt="5">
        <dgm:presLayoutVars>
          <dgm:bulletEnabled val="1"/>
        </dgm:presLayoutVars>
      </dgm:prSet>
      <dgm:spPr/>
    </dgm:pt>
    <dgm:pt modelId="{9F9224F8-B022-4A7F-9062-7117D083D30D}" type="pres">
      <dgm:prSet presAssocID="{1D6F4DB3-1316-4E05-9310-2CC912EA8E6C}" presName="sibTrans" presStyleCnt="0"/>
      <dgm:spPr/>
    </dgm:pt>
    <dgm:pt modelId="{1538009E-8702-45AC-862F-12C6A4E941C4}" type="pres">
      <dgm:prSet presAssocID="{3AEC6466-1C68-4E6A-8ADD-DC3E4326A152}" presName="textNode" presStyleLbl="node1" presStyleIdx="2" presStyleCnt="5">
        <dgm:presLayoutVars>
          <dgm:bulletEnabled val="1"/>
        </dgm:presLayoutVars>
      </dgm:prSet>
      <dgm:spPr/>
    </dgm:pt>
    <dgm:pt modelId="{834BCF78-25B6-4968-B3F3-1ACBCD93FB38}" type="pres">
      <dgm:prSet presAssocID="{C8C91E47-3A8E-4A8F-900F-D4A5BC32D461}" presName="sibTrans" presStyleCnt="0"/>
      <dgm:spPr/>
    </dgm:pt>
    <dgm:pt modelId="{4495F5D6-60A1-426B-902C-BF6ADCDCC3A3}" type="pres">
      <dgm:prSet presAssocID="{54A53F4F-6F91-4E70-AE12-3F4AAFB5FF0B}" presName="textNode" presStyleLbl="node1" presStyleIdx="3" presStyleCnt="5">
        <dgm:presLayoutVars>
          <dgm:bulletEnabled val="1"/>
        </dgm:presLayoutVars>
      </dgm:prSet>
      <dgm:spPr/>
    </dgm:pt>
    <dgm:pt modelId="{81564987-3E2D-479A-987B-1BB668B38C0C}" type="pres">
      <dgm:prSet presAssocID="{E3E7B5D1-C290-415C-BBB2-C2CB23742FBA}" presName="sibTrans" presStyleCnt="0"/>
      <dgm:spPr/>
    </dgm:pt>
    <dgm:pt modelId="{2C4CB3CE-BCEB-439C-AA8A-0811C30327CD}" type="pres">
      <dgm:prSet presAssocID="{B0CCD1B7-D559-4B71-9F0B-23500D5602F1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CF71D11A-5827-46FF-B2EB-B428FE18BA01}" srcId="{927C6754-F39C-486D-B775-9075826EC1A4}" destId="{7172BEAC-F916-4AE3-873A-3972700A333D}" srcOrd="0" destOrd="0" parTransId="{4AC53C2E-3498-433E-918B-68A235D938E5}" sibTransId="{168FE6E4-84DC-443A-BB61-C4C2B28AE298}"/>
    <dgm:cxn modelId="{84CDC129-6DD0-4378-9A61-2067A0B4FE5B}" srcId="{927C6754-F39C-486D-B775-9075826EC1A4}" destId="{19D211DE-4124-46BF-8FF9-6AFB794A943A}" srcOrd="1" destOrd="0" parTransId="{CF0B2545-D20C-4465-8EAF-FFD4410E3067}" sibTransId="{1D6F4DB3-1316-4E05-9310-2CC912EA8E6C}"/>
    <dgm:cxn modelId="{DE5C6240-BC3A-4697-A339-31B8519EBA32}" type="presOf" srcId="{54A53F4F-6F91-4E70-AE12-3F4AAFB5FF0B}" destId="{4495F5D6-60A1-426B-902C-BF6ADCDCC3A3}" srcOrd="0" destOrd="0" presId="urn:microsoft.com/office/officeart/2005/8/layout/hProcess9"/>
    <dgm:cxn modelId="{6EE6A363-76F8-4F23-BE84-1D3167C53B89}" srcId="{927C6754-F39C-486D-B775-9075826EC1A4}" destId="{54A53F4F-6F91-4E70-AE12-3F4AAFB5FF0B}" srcOrd="3" destOrd="0" parTransId="{0B489DFC-ED34-43C0-9E57-C2D431239A13}" sibTransId="{E3E7B5D1-C290-415C-BBB2-C2CB23742FBA}"/>
    <dgm:cxn modelId="{E4BBBA4D-DD21-42A5-8865-EBB845657CE4}" type="presOf" srcId="{19D211DE-4124-46BF-8FF9-6AFB794A943A}" destId="{01FE9472-C3A4-4876-AFB2-A011CDFACBE6}" srcOrd="0" destOrd="0" presId="urn:microsoft.com/office/officeart/2005/8/layout/hProcess9"/>
    <dgm:cxn modelId="{B476DF70-AA66-4939-8A65-10A02147D83A}" type="presOf" srcId="{B0CCD1B7-D559-4B71-9F0B-23500D5602F1}" destId="{2C4CB3CE-BCEB-439C-AA8A-0811C30327CD}" srcOrd="0" destOrd="0" presId="urn:microsoft.com/office/officeart/2005/8/layout/hProcess9"/>
    <dgm:cxn modelId="{BD3F057B-441D-4645-82F2-461CEF9DDDB5}" srcId="{927C6754-F39C-486D-B775-9075826EC1A4}" destId="{3AEC6466-1C68-4E6A-8ADD-DC3E4326A152}" srcOrd="2" destOrd="0" parTransId="{772D29E2-7735-4134-8D55-86B551299C43}" sibTransId="{C8C91E47-3A8E-4A8F-900F-D4A5BC32D461}"/>
    <dgm:cxn modelId="{27219D9B-05FE-4814-A3C6-8B11965E3444}" srcId="{927C6754-F39C-486D-B775-9075826EC1A4}" destId="{B0CCD1B7-D559-4B71-9F0B-23500D5602F1}" srcOrd="4" destOrd="0" parTransId="{385C2700-0912-41CC-8563-698CB2DB8289}" sibTransId="{F6BF4CD0-19D1-4A6D-858E-9C8D0D3A6916}"/>
    <dgm:cxn modelId="{A05D1BA3-4BFD-49F6-8E00-31EA1D24C3FA}" type="presOf" srcId="{3AEC6466-1C68-4E6A-8ADD-DC3E4326A152}" destId="{1538009E-8702-45AC-862F-12C6A4E941C4}" srcOrd="0" destOrd="0" presId="urn:microsoft.com/office/officeart/2005/8/layout/hProcess9"/>
    <dgm:cxn modelId="{3A74B7A9-9AC4-4EE7-8F08-6749F1143AAC}" type="presOf" srcId="{927C6754-F39C-486D-B775-9075826EC1A4}" destId="{43346244-CF04-424E-BEE8-56F5997144B6}" srcOrd="0" destOrd="0" presId="urn:microsoft.com/office/officeart/2005/8/layout/hProcess9"/>
    <dgm:cxn modelId="{31BB7EAA-D35F-4613-AB83-8FEF55EBA596}" type="presOf" srcId="{7172BEAC-F916-4AE3-873A-3972700A333D}" destId="{880CF42C-CDB1-49EE-A156-0A4B82D54A13}" srcOrd="0" destOrd="0" presId="urn:microsoft.com/office/officeart/2005/8/layout/hProcess9"/>
    <dgm:cxn modelId="{F60CE76A-5B06-41FA-BBF9-911DD322205C}" type="presParOf" srcId="{43346244-CF04-424E-BEE8-56F5997144B6}" destId="{92890228-53A8-43C7-A66A-684EFE7A08EB}" srcOrd="0" destOrd="0" presId="urn:microsoft.com/office/officeart/2005/8/layout/hProcess9"/>
    <dgm:cxn modelId="{5C51228F-F933-4A0C-8901-BE1D044AE447}" type="presParOf" srcId="{43346244-CF04-424E-BEE8-56F5997144B6}" destId="{BBF35304-08AC-41CD-901E-8681C5901F18}" srcOrd="1" destOrd="0" presId="urn:microsoft.com/office/officeart/2005/8/layout/hProcess9"/>
    <dgm:cxn modelId="{E9041CA3-A4BB-4E1E-B51C-E966B88A3A22}" type="presParOf" srcId="{BBF35304-08AC-41CD-901E-8681C5901F18}" destId="{880CF42C-CDB1-49EE-A156-0A4B82D54A13}" srcOrd="0" destOrd="0" presId="urn:microsoft.com/office/officeart/2005/8/layout/hProcess9"/>
    <dgm:cxn modelId="{55460B27-3FF4-429E-A71B-1488D1DEDD37}" type="presParOf" srcId="{BBF35304-08AC-41CD-901E-8681C5901F18}" destId="{5A6CF5C2-1037-49FC-8F41-921302FB3972}" srcOrd="1" destOrd="0" presId="urn:microsoft.com/office/officeart/2005/8/layout/hProcess9"/>
    <dgm:cxn modelId="{CE9BC261-EA09-47CC-A27C-CC95A78E40E3}" type="presParOf" srcId="{BBF35304-08AC-41CD-901E-8681C5901F18}" destId="{01FE9472-C3A4-4876-AFB2-A011CDFACBE6}" srcOrd="2" destOrd="0" presId="urn:microsoft.com/office/officeart/2005/8/layout/hProcess9"/>
    <dgm:cxn modelId="{BF929CEE-3C32-4E79-AFD2-11FEB74071C5}" type="presParOf" srcId="{BBF35304-08AC-41CD-901E-8681C5901F18}" destId="{9F9224F8-B022-4A7F-9062-7117D083D30D}" srcOrd="3" destOrd="0" presId="urn:microsoft.com/office/officeart/2005/8/layout/hProcess9"/>
    <dgm:cxn modelId="{E8902065-93F6-4C82-BAA3-34CD337CD817}" type="presParOf" srcId="{BBF35304-08AC-41CD-901E-8681C5901F18}" destId="{1538009E-8702-45AC-862F-12C6A4E941C4}" srcOrd="4" destOrd="0" presId="urn:microsoft.com/office/officeart/2005/8/layout/hProcess9"/>
    <dgm:cxn modelId="{857BEFE1-EE87-46CF-BBA5-9A97D1429B11}" type="presParOf" srcId="{BBF35304-08AC-41CD-901E-8681C5901F18}" destId="{834BCF78-25B6-4968-B3F3-1ACBCD93FB38}" srcOrd="5" destOrd="0" presId="urn:microsoft.com/office/officeart/2005/8/layout/hProcess9"/>
    <dgm:cxn modelId="{6858A482-07C0-443D-AAF6-FBD0508EA3A1}" type="presParOf" srcId="{BBF35304-08AC-41CD-901E-8681C5901F18}" destId="{4495F5D6-60A1-426B-902C-BF6ADCDCC3A3}" srcOrd="6" destOrd="0" presId="urn:microsoft.com/office/officeart/2005/8/layout/hProcess9"/>
    <dgm:cxn modelId="{63ED7F90-9A1F-4A1B-8E9B-B60ADFDDB9AF}" type="presParOf" srcId="{BBF35304-08AC-41CD-901E-8681C5901F18}" destId="{81564987-3E2D-479A-987B-1BB668B38C0C}" srcOrd="7" destOrd="0" presId="urn:microsoft.com/office/officeart/2005/8/layout/hProcess9"/>
    <dgm:cxn modelId="{C2A4EEFD-7CAB-4433-A559-605DDE197906}" type="presParOf" srcId="{BBF35304-08AC-41CD-901E-8681C5901F18}" destId="{2C4CB3CE-BCEB-439C-AA8A-0811C30327CD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2EDC3-B953-4845-8C5F-FFD9C0D0F9B3}">
      <dsp:nvSpPr>
        <dsp:cNvPr id="0" name=""/>
        <dsp:cNvSpPr/>
      </dsp:nvSpPr>
      <dsp:spPr>
        <a:xfrm>
          <a:off x="496376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Problem formulation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600" kern="1200" smtClean="0">
                  <a:latin typeface="Cambria Math" panose="02040503050406030204" pitchFamily="18" charset="0"/>
                </a:rPr>
                <m:t>𝐴</m:t>
              </m:r>
              <m:r>
                <a:rPr lang="en-IN" sz="1600" kern="1200" smtClean="0">
                  <a:latin typeface="Cambria Math" panose="02040503050406030204" pitchFamily="18" charset="0"/>
                </a:rPr>
                <m:t>𝜃</m:t>
              </m:r>
              <m:r>
                <a:rPr lang="en-IN" sz="1600" kern="1200" smtClean="0">
                  <a:latin typeface="Cambria Math" panose="02040503050406030204" pitchFamily="18" charset="0"/>
                </a:rPr>
                <m:t>=</m:t>
              </m:r>
              <m:r>
                <a:rPr lang="en-IN" sz="1600" kern="1200" smtClean="0">
                  <a:latin typeface="Cambria Math" panose="02040503050406030204" pitchFamily="18" charset="0"/>
                </a:rPr>
                <m:t>𝑏</m:t>
              </m:r>
            </m:oMath>
          </a14:m>
          <a:r>
            <a:rPr lang="en-US" sz="1600" kern="1200" dirty="0"/>
            <a:t>      (3)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A: input parameter matrix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600" kern="1200" smtClean="0">
                  <a:latin typeface="Cambria Math" panose="02040503050406030204" pitchFamily="18" charset="0"/>
                </a:rPr>
                <m:t>𝜃</m:t>
              </m:r>
              <m:r>
                <a:rPr lang="en-US" sz="1600" kern="1200" smtClean="0">
                  <a:latin typeface="Cambria Math" panose="02040503050406030204" pitchFamily="18" charset="0"/>
                </a:rPr>
                <m:t>: </m:t>
              </m:r>
            </m:oMath>
          </a14:m>
          <a:r>
            <a:rPr lang="en-US" sz="1600" kern="1200" dirty="0"/>
            <a:t>unknown parameter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b: output parameter vector                                      </a:t>
          </a:r>
          <a:endParaRPr lang="en-IN" sz="1600" kern="1200" dirty="0"/>
        </a:p>
      </dsp:txBody>
      <dsp:txXfrm>
        <a:off x="547904" y="1216780"/>
        <a:ext cx="2611708" cy="1656247"/>
      </dsp:txXfrm>
    </dsp:sp>
    <dsp:sp modelId="{7DB67C47-5860-4274-ADE5-1E44EA1378F8}">
      <dsp:nvSpPr>
        <dsp:cNvPr id="0" name=""/>
        <dsp:cNvSpPr/>
      </dsp:nvSpPr>
      <dsp:spPr>
        <a:xfrm>
          <a:off x="1932803" y="1599876"/>
          <a:ext cx="3201928" cy="3201928"/>
        </a:xfrm>
        <a:prstGeom prst="leftCircularArrow">
          <a:avLst>
            <a:gd name="adj1" fmla="val 3659"/>
            <a:gd name="adj2" fmla="val 455718"/>
            <a:gd name="adj3" fmla="val 2112814"/>
            <a:gd name="adj4" fmla="val 8906075"/>
            <a:gd name="adj5" fmla="val 4269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2F77E8-4CE2-4FBC-A0B4-FCEF894B217D}">
      <dsp:nvSpPr>
        <dsp:cNvPr id="0" name=""/>
        <dsp:cNvSpPr/>
      </dsp:nvSpPr>
      <dsp:spPr>
        <a:xfrm>
          <a:off x="1071255" y="3012841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700" kern="1200" dirty="0"/>
        </a:p>
      </dsp:txBody>
      <dsp:txXfrm>
        <a:off x="1099361" y="3040947"/>
        <a:ext cx="2356912" cy="903407"/>
      </dsp:txXfrm>
    </dsp:sp>
    <dsp:sp modelId="{38881BAA-AB85-4CA6-8960-61641A31C1B2}">
      <dsp:nvSpPr>
        <dsp:cNvPr id="0" name=""/>
        <dsp:cNvSpPr/>
      </dsp:nvSpPr>
      <dsp:spPr>
        <a:xfrm>
          <a:off x="4070669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77660"/>
              <a:satOff val="-1622"/>
              <a:lumOff val="43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IN" sz="18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800" b="0" i="1" kern="1200" smtClean="0">
                      <a:latin typeface="Cambria Math" panose="02040503050406030204" pitchFamily="18" charset="0"/>
                    </a:rPr>
                    <m:t>        </m:t>
                  </m:r>
                  <m:r>
                    <a:rPr lang="en-US" sz="1800" i="1" kern="1200">
                      <a:latin typeface="Cambria Math" panose="02040503050406030204" pitchFamily="18" charset="0"/>
                    </a:rPr>
                    <m:t>𝜃</m:t>
                  </m:r>
                </m:e>
                <m:sub>
                  <m:r>
                    <a:rPr lang="en-US" sz="1800" i="1" kern="1200">
                      <a:latin typeface="Cambria Math" panose="02040503050406030204" pitchFamily="18" charset="0"/>
                    </a:rPr>
                    <m:t>𝑜𝑝𝑡</m:t>
                  </m:r>
                </m:sub>
              </m:sSub>
              <m:r>
                <a:rPr lang="en-US" sz="1800" i="1" kern="1200">
                  <a:latin typeface="Cambria Math" panose="02040503050406030204" pitchFamily="18" charset="0"/>
                </a:rPr>
                <m:t>=</m:t>
              </m:r>
              <m:r>
                <a:rPr lang="en-US" sz="1800" b="0" i="1" kern="1200" smtClean="0">
                  <a:latin typeface="Cambria Math" panose="02040503050406030204" pitchFamily="18" charset="0"/>
                </a:rPr>
                <m:t> </m:t>
              </m:r>
              <m:d>
                <m:dPr>
                  <m:ctrlPr>
                    <a:rPr lang="en-US" sz="18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f>
                    <m:fPr>
                      <m:ctrlPr>
                        <a:rPr lang="en-US" sz="1800" b="0" i="1" kern="1200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en-US" sz="1800" i="1" kern="120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IN" sz="1800" i="1" kern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IN" sz="18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num>
                    <m:den>
                      <m:r>
                        <a:rPr lang="en-US" sz="1800" i="1" kern="120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IN" sz="1800" i="1" kern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IN" sz="18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den>
                  </m:f>
                </m:e>
              </m:d>
            </m:oMath>
          </a14:m>
          <a:r>
            <a:rPr lang="en-IN" sz="1700" kern="1200" dirty="0"/>
            <a:t>     </a:t>
          </a:r>
          <a:r>
            <a:rPr lang="en-IN" sz="1500" kern="1200" dirty="0"/>
            <a:t>(4)</a:t>
          </a:r>
        </a:p>
      </dsp:txBody>
      <dsp:txXfrm>
        <a:off x="4122197" y="1696590"/>
        <a:ext cx="2611708" cy="1656247"/>
      </dsp:txXfrm>
    </dsp:sp>
    <dsp:sp modelId="{7A939B14-CCFB-4FE8-AE3E-D581AC428E57}">
      <dsp:nvSpPr>
        <dsp:cNvPr id="0" name=""/>
        <dsp:cNvSpPr/>
      </dsp:nvSpPr>
      <dsp:spPr>
        <a:xfrm>
          <a:off x="5540948" y="-266695"/>
          <a:ext cx="3514403" cy="3514403"/>
        </a:xfrm>
        <a:prstGeom prst="circularArrow">
          <a:avLst>
            <a:gd name="adj1" fmla="val 3334"/>
            <a:gd name="adj2" fmla="val 411989"/>
            <a:gd name="adj3" fmla="val 19412500"/>
            <a:gd name="adj4" fmla="val 12575511"/>
            <a:gd name="adj5" fmla="val 3889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647E3E-3E70-4713-9140-3BEA387F12BE}">
      <dsp:nvSpPr>
        <dsp:cNvPr id="0" name=""/>
        <dsp:cNvSpPr/>
      </dsp:nvSpPr>
      <dsp:spPr>
        <a:xfrm>
          <a:off x="4673950" y="685442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77660"/>
                <a:satOff val="-1622"/>
                <a:lumOff val="43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7660"/>
                <a:satOff val="-1622"/>
                <a:lumOff val="43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7660"/>
                <a:satOff val="-1622"/>
                <a:lumOff val="43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MSE solution</a:t>
          </a:r>
          <a:endParaRPr lang="en-IN" sz="1600" b="1" kern="1200" dirty="0"/>
        </a:p>
      </dsp:txBody>
      <dsp:txXfrm>
        <a:off x="4702056" y="713548"/>
        <a:ext cx="2356912" cy="903407"/>
      </dsp:txXfrm>
    </dsp:sp>
    <dsp:sp modelId="{77AD8373-123F-4D62-A0EA-07445DA22E8D}">
      <dsp:nvSpPr>
        <dsp:cNvPr id="0" name=""/>
        <dsp:cNvSpPr/>
      </dsp:nvSpPr>
      <dsp:spPr>
        <a:xfrm>
          <a:off x="7644962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155319"/>
              <a:satOff val="-3244"/>
              <a:lumOff val="86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IN" sz="16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sSup>
                    <m:sSupPr>
                      <m:ctrlPr>
                        <a:rPr lang="en-IN" sz="1600" i="1" kern="120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600" b="0" i="1" kern="1200" smtClean="0">
                          <a:latin typeface="Cambria Math" panose="02040503050406030204" pitchFamily="18" charset="0"/>
                        </a:rPr>
                        <m:t>𝐶</m:t>
                      </m:r>
                    </m:e>
                    <m:sup>
                      <m:r>
                        <a:rPr lang="en-US" sz="1600" b="0" i="1" kern="1200" smtClean="0">
                          <a:latin typeface="Cambria Math" panose="02040503050406030204" pitchFamily="18" charset="0"/>
                        </a:rPr>
                        <m:t>𝑁</m:t>
                      </m:r>
                    </m:sup>
                  </m:sSup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4</m:t>
                  </m:r>
                </m:sub>
              </m:sSub>
            </m:oMath>
          </a14:m>
          <a:r>
            <a:rPr lang="en-IN" sz="1600" kern="1200" dirty="0"/>
            <a:t>  random combinations of sensors.</a:t>
          </a:r>
        </a:p>
      </dsp:txBody>
      <dsp:txXfrm>
        <a:off x="7696490" y="1216780"/>
        <a:ext cx="2611708" cy="1656247"/>
      </dsp:txXfrm>
    </dsp:sp>
    <dsp:sp modelId="{C7CA63CA-E149-40FA-B568-A9654299D8BC}">
      <dsp:nvSpPr>
        <dsp:cNvPr id="0" name=""/>
        <dsp:cNvSpPr/>
      </dsp:nvSpPr>
      <dsp:spPr>
        <a:xfrm>
          <a:off x="8248243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Result</a:t>
          </a:r>
          <a:endParaRPr lang="en-IN" sz="1600" b="1" kern="1200" dirty="0"/>
        </a:p>
      </dsp:txBody>
      <dsp:txXfrm>
        <a:off x="8276349" y="2952662"/>
        <a:ext cx="2356912" cy="903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2EDC3-B953-4845-8C5F-FFD9C0D0F9B3}">
      <dsp:nvSpPr>
        <dsp:cNvPr id="0" name=""/>
        <dsp:cNvSpPr/>
      </dsp:nvSpPr>
      <dsp:spPr>
        <a:xfrm>
          <a:off x="496376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Problem formulation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600" kern="1200" smtClean="0">
                  <a:latin typeface="Cambria Math" panose="02040503050406030204" pitchFamily="18" charset="0"/>
                </a:rPr>
                <m:t>𝐴</m:t>
              </m:r>
              <m:r>
                <a:rPr lang="en-IN" sz="1600" kern="1200" smtClean="0">
                  <a:latin typeface="Cambria Math" panose="02040503050406030204" pitchFamily="18" charset="0"/>
                </a:rPr>
                <m:t>𝜃</m:t>
              </m:r>
              <m:r>
                <a:rPr lang="en-IN" sz="1600" kern="1200" smtClean="0">
                  <a:latin typeface="Cambria Math" panose="02040503050406030204" pitchFamily="18" charset="0"/>
                </a:rPr>
                <m:t>=</m:t>
              </m:r>
              <m:r>
                <a:rPr lang="en-IN" sz="1600" kern="1200" smtClean="0">
                  <a:latin typeface="Cambria Math" panose="02040503050406030204" pitchFamily="18" charset="0"/>
                </a:rPr>
                <m:t>𝑏</m:t>
              </m:r>
            </m:oMath>
          </a14:m>
          <a:r>
            <a:rPr lang="en-US" sz="1600" kern="1200" dirty="0"/>
            <a:t>      (3)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A: input parameter matrix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600" kern="1200" smtClean="0">
                  <a:latin typeface="Cambria Math" panose="02040503050406030204" pitchFamily="18" charset="0"/>
                </a:rPr>
                <m:t>𝜃</m:t>
              </m:r>
              <m:r>
                <a:rPr lang="en-US" sz="1600" kern="1200" smtClean="0">
                  <a:latin typeface="Cambria Math" panose="02040503050406030204" pitchFamily="18" charset="0"/>
                </a:rPr>
                <m:t>: </m:t>
              </m:r>
            </m:oMath>
          </a14:m>
          <a:r>
            <a:rPr lang="en-US" sz="1600" kern="1200" dirty="0"/>
            <a:t>unknown parameter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b: output parameter vector                                      </a:t>
          </a:r>
          <a:endParaRPr lang="en-IN" sz="1600" kern="1200" dirty="0"/>
        </a:p>
      </dsp:txBody>
      <dsp:txXfrm>
        <a:off x="547904" y="1216780"/>
        <a:ext cx="2611708" cy="1656247"/>
      </dsp:txXfrm>
    </dsp:sp>
    <dsp:sp modelId="{7DB67C47-5860-4274-ADE5-1E44EA1378F8}">
      <dsp:nvSpPr>
        <dsp:cNvPr id="0" name=""/>
        <dsp:cNvSpPr/>
      </dsp:nvSpPr>
      <dsp:spPr>
        <a:xfrm>
          <a:off x="1989278" y="1581004"/>
          <a:ext cx="3167516" cy="3167516"/>
        </a:xfrm>
        <a:prstGeom prst="leftCircularArrow">
          <a:avLst>
            <a:gd name="adj1" fmla="val 3699"/>
            <a:gd name="adj2" fmla="val 461108"/>
            <a:gd name="adj3" fmla="val 2236619"/>
            <a:gd name="adj4" fmla="val 9024489"/>
            <a:gd name="adj5" fmla="val 4315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2F77E8-4CE2-4FBC-A0B4-FCEF894B217D}">
      <dsp:nvSpPr>
        <dsp:cNvPr id="0" name=""/>
        <dsp:cNvSpPr/>
      </dsp:nvSpPr>
      <dsp:spPr>
        <a:xfrm>
          <a:off x="1099658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700" kern="1200" dirty="0"/>
        </a:p>
      </dsp:txBody>
      <dsp:txXfrm>
        <a:off x="1127764" y="2952662"/>
        <a:ext cx="2356912" cy="903407"/>
      </dsp:txXfrm>
    </dsp:sp>
    <dsp:sp modelId="{38881BAA-AB85-4CA6-8960-61641A31C1B2}">
      <dsp:nvSpPr>
        <dsp:cNvPr id="0" name=""/>
        <dsp:cNvSpPr/>
      </dsp:nvSpPr>
      <dsp:spPr>
        <a:xfrm>
          <a:off x="4070669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77660"/>
              <a:satOff val="-1622"/>
              <a:lumOff val="43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600" i="1" kern="1200" smtClean="0">
                  <a:latin typeface="Cambria Math" panose="02040503050406030204" pitchFamily="18" charset="0"/>
                </a:rPr>
                <m:t>𝐿</m:t>
              </m:r>
              <m:r>
                <a:rPr lang="en-IN" sz="1600" i="1" kern="1200" smtClean="0">
                  <a:latin typeface="Cambria Math" panose="02040503050406030204" pitchFamily="18" charset="0"/>
                </a:rPr>
                <m:t>(</m:t>
              </m:r>
              <m:r>
                <a:rPr lang="en-IN" sz="1600" i="1" kern="1200" smtClean="0">
                  <a:latin typeface="Cambria Math" panose="02040503050406030204" pitchFamily="18" charset="0"/>
                </a:rPr>
                <m:t>𝜃</m:t>
              </m:r>
              <m:r>
                <a:rPr lang="en-IN" sz="1600" i="1" kern="1200" smtClean="0">
                  <a:latin typeface="Cambria Math" panose="02040503050406030204" pitchFamily="18" charset="0"/>
                </a:rPr>
                <m:t>,</m:t>
              </m:r>
              <m:r>
                <a:rPr lang="en-IN" sz="1600" i="1" kern="1200" smtClean="0">
                  <a:latin typeface="Cambria Math" panose="02040503050406030204" pitchFamily="18" charset="0"/>
                </a:rPr>
                <m:t>𝜆</m:t>
              </m:r>
              <m:r>
                <a:rPr lang="en-IN" sz="1600" i="1" kern="1200" smtClean="0">
                  <a:latin typeface="Cambria Math" panose="02040503050406030204" pitchFamily="18" charset="0"/>
                </a:rPr>
                <m:t>) = </m:t>
              </m:r>
              <m:sSup>
                <m:sSupPr>
                  <m:ctrlPr>
                    <a:rPr lang="en-IN" sz="16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600" i="1" kern="1200">
                      <a:latin typeface="Cambria Math" panose="02040503050406030204" pitchFamily="18" charset="0"/>
                    </a:rPr>
                    <m:t>(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𝐴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 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𝜃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−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𝑏</m:t>
                  </m:r>
                  <m:r>
                    <a:rPr lang="en-IN" sz="1600" i="1" kern="1200">
                      <a:latin typeface="Cambria Math" panose="02040503050406030204" pitchFamily="18" charset="0"/>
                    </a:rPr>
                    <m:t>)</m:t>
                  </m:r>
                </m:e>
                <m:sup>
                  <m:r>
                    <a:rPr lang="en-IN" sz="16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600" i="1" kern="1200">
                  <a:latin typeface="Cambria Math" panose="02040503050406030204" pitchFamily="18" charset="0"/>
                </a:rPr>
                <m:t> (</m:t>
              </m:r>
              <m:r>
                <a:rPr lang="en-IN" sz="1600" i="1" kern="1200">
                  <a:latin typeface="Cambria Math" panose="02040503050406030204" pitchFamily="18" charset="0"/>
                </a:rPr>
                <m:t>𝐴</m:t>
              </m:r>
              <m:r>
                <a:rPr lang="en-IN" sz="1600" i="1" kern="1200">
                  <a:latin typeface="Cambria Math" panose="02040503050406030204" pitchFamily="18" charset="0"/>
                </a:rPr>
                <m:t> </m:t>
              </m:r>
              <m:r>
                <a:rPr lang="en-IN" sz="1600" i="1" kern="1200">
                  <a:latin typeface="Cambria Math" panose="02040503050406030204" pitchFamily="18" charset="0"/>
                </a:rPr>
                <m:t>𝜃</m:t>
              </m:r>
              <m:r>
                <a:rPr lang="en-IN" sz="1600" i="1" kern="1200">
                  <a:latin typeface="Cambria Math" panose="02040503050406030204" pitchFamily="18" charset="0"/>
                </a:rPr>
                <m:t>−</m:t>
              </m:r>
              <m:r>
                <a:rPr lang="en-IN" sz="1600" i="1" kern="1200">
                  <a:latin typeface="Cambria Math" panose="02040503050406030204" pitchFamily="18" charset="0"/>
                </a:rPr>
                <m:t>𝑏</m:t>
              </m:r>
              <m:r>
                <a:rPr lang="en-IN" sz="1600" i="1" kern="1200">
                  <a:latin typeface="Cambria Math" panose="02040503050406030204" pitchFamily="18" charset="0"/>
                </a:rPr>
                <m:t>) + </m:t>
              </m:r>
              <m:r>
                <a:rPr lang="en-IN" sz="1600" i="1" kern="1200">
                  <a:latin typeface="Cambria Math" panose="02040503050406030204" pitchFamily="18" charset="0"/>
                </a:rPr>
                <m:t>𝜆</m:t>
              </m:r>
              <m:r>
                <a:rPr lang="en-IN" sz="1600" i="1" kern="1200">
                  <a:latin typeface="Cambria Math" panose="02040503050406030204" pitchFamily="18" charset="0"/>
                </a:rPr>
                <m:t>(</m:t>
              </m:r>
              <m:sSup>
                <m:sSupPr>
                  <m:ctrlPr>
                    <a:rPr lang="en-IN" sz="16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600" i="1" kern="1200">
                      <a:latin typeface="Cambria Math" panose="02040503050406030204" pitchFamily="18" charset="0"/>
                    </a:rPr>
                    <m:t>𝑟</m:t>
                  </m:r>
                </m:e>
                <m:sup>
                  <m:r>
                    <a:rPr lang="en-IN" sz="16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600" i="1" kern="1200">
                  <a:latin typeface="Cambria Math" panose="02040503050406030204" pitchFamily="18" charset="0"/>
                </a:rPr>
                <m:t>𝜃</m:t>
              </m:r>
              <m:r>
                <a:rPr lang="en-IN" sz="1600" i="1" kern="1200">
                  <a:latin typeface="Cambria Math" panose="02040503050406030204" pitchFamily="18" charset="0"/>
                </a:rPr>
                <m:t>+ </m:t>
              </m:r>
              <m:sSup>
                <m:sSupPr>
                  <m:ctrlPr>
                    <a:rPr lang="en-IN" sz="16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600" i="1" kern="1200">
                      <a:latin typeface="Cambria Math" panose="02040503050406030204" pitchFamily="18" charset="0"/>
                    </a:rPr>
                    <m:t>𝜃</m:t>
                  </m:r>
                </m:e>
                <m:sup>
                  <m:r>
                    <a:rPr lang="en-IN" sz="16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600" i="1" kern="1200">
                  <a:latin typeface="Cambria Math" panose="02040503050406030204" pitchFamily="18" charset="0"/>
                </a:rPr>
                <m:t>𝑃</m:t>
              </m:r>
              <m:r>
                <a:rPr lang="en-IN" sz="1600" i="1" kern="1200">
                  <a:latin typeface="Cambria Math" panose="02040503050406030204" pitchFamily="18" charset="0"/>
                </a:rPr>
                <m:t>𝜃</m:t>
              </m:r>
              <m:r>
                <a:rPr lang="en-IN" sz="1600" i="1" kern="1200">
                  <a:latin typeface="Cambria Math" panose="02040503050406030204" pitchFamily="18" charset="0"/>
                </a:rPr>
                <m:t>)</m:t>
              </m:r>
            </m:oMath>
          </a14:m>
          <a:r>
            <a:rPr lang="en-IN" sz="1600" kern="1200" dirty="0"/>
            <a:t>    (7)</a:t>
          </a:r>
          <a:r>
            <a:rPr lang="en-IN" sz="1200" kern="1200" dirty="0"/>
            <a:t>                             </a:t>
          </a:r>
        </a:p>
      </dsp:txBody>
      <dsp:txXfrm>
        <a:off x="4122197" y="1696590"/>
        <a:ext cx="2611708" cy="1656247"/>
      </dsp:txXfrm>
    </dsp:sp>
    <dsp:sp modelId="{7A939B14-CCFB-4FE8-AE3E-D581AC428E57}">
      <dsp:nvSpPr>
        <dsp:cNvPr id="0" name=""/>
        <dsp:cNvSpPr/>
      </dsp:nvSpPr>
      <dsp:spPr>
        <a:xfrm>
          <a:off x="5540948" y="-266695"/>
          <a:ext cx="3514403" cy="3514403"/>
        </a:xfrm>
        <a:prstGeom prst="circularArrow">
          <a:avLst>
            <a:gd name="adj1" fmla="val 3334"/>
            <a:gd name="adj2" fmla="val 411989"/>
            <a:gd name="adj3" fmla="val 19412500"/>
            <a:gd name="adj4" fmla="val 12575511"/>
            <a:gd name="adj5" fmla="val 3889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647E3E-3E70-4713-9140-3BEA387F12BE}">
      <dsp:nvSpPr>
        <dsp:cNvPr id="0" name=""/>
        <dsp:cNvSpPr/>
      </dsp:nvSpPr>
      <dsp:spPr>
        <a:xfrm>
          <a:off x="4673950" y="685442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77660"/>
                <a:satOff val="-1622"/>
                <a:lumOff val="43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7660"/>
                <a:satOff val="-1622"/>
                <a:lumOff val="43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7660"/>
                <a:satOff val="-1622"/>
                <a:lumOff val="43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/>
            <a:t>LIvE</a:t>
          </a:r>
          <a:r>
            <a:rPr lang="en-US" sz="1600" b="1" kern="1200" dirty="0"/>
            <a:t> </a:t>
          </a:r>
          <a:r>
            <a:rPr lang="en-US" sz="1600" b="0" kern="1200" dirty="0"/>
            <a:t>solution</a:t>
          </a:r>
          <a:endParaRPr lang="en-IN" sz="1600" b="0" kern="1200" dirty="0"/>
        </a:p>
      </dsp:txBody>
      <dsp:txXfrm>
        <a:off x="4702056" y="713548"/>
        <a:ext cx="2356912" cy="903407"/>
      </dsp:txXfrm>
    </dsp:sp>
    <dsp:sp modelId="{77AD8373-123F-4D62-A0EA-07445DA22E8D}">
      <dsp:nvSpPr>
        <dsp:cNvPr id="0" name=""/>
        <dsp:cNvSpPr/>
      </dsp:nvSpPr>
      <dsp:spPr>
        <a:xfrm>
          <a:off x="7644962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155319"/>
              <a:satOff val="-3244"/>
              <a:lumOff val="86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Formulating linear regression problem as in equation (3) with data from the N sensor configuration.</a:t>
          </a:r>
          <a:endParaRPr lang="en-IN" sz="1600" kern="1200" dirty="0"/>
        </a:p>
      </dsp:txBody>
      <dsp:txXfrm>
        <a:off x="7696490" y="1216780"/>
        <a:ext cx="2611708" cy="1656247"/>
      </dsp:txXfrm>
    </dsp:sp>
    <dsp:sp modelId="{C7CA63CA-E149-40FA-B568-A9654299D8BC}">
      <dsp:nvSpPr>
        <dsp:cNvPr id="0" name=""/>
        <dsp:cNvSpPr/>
      </dsp:nvSpPr>
      <dsp:spPr>
        <a:xfrm>
          <a:off x="8248243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Result</a:t>
          </a:r>
          <a:endParaRPr lang="en-IN" sz="1600" b="1" kern="1200" dirty="0"/>
        </a:p>
      </dsp:txBody>
      <dsp:txXfrm>
        <a:off x="8276349" y="2952662"/>
        <a:ext cx="2356912" cy="9034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90228-53A8-43C7-A66A-684EFE7A08EB}">
      <dsp:nvSpPr>
        <dsp:cNvPr id="0" name=""/>
        <dsp:cNvSpPr/>
      </dsp:nvSpPr>
      <dsp:spPr>
        <a:xfrm>
          <a:off x="435302" y="0"/>
          <a:ext cx="4933430" cy="332071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CF42C-CDB1-49EE-A156-0A4B82D54A13}">
      <dsp:nvSpPr>
        <dsp:cNvPr id="0" name=""/>
        <dsp:cNvSpPr/>
      </dsp:nvSpPr>
      <dsp:spPr>
        <a:xfrm>
          <a:off x="2550" y="996214"/>
          <a:ext cx="1115179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 subframes from numerology 0.</a:t>
          </a:r>
          <a:endParaRPr lang="en-IN" sz="1300" kern="1200" dirty="0"/>
        </a:p>
      </dsp:txBody>
      <dsp:txXfrm>
        <a:off x="56989" y="1050653"/>
        <a:ext cx="1006301" cy="1219408"/>
      </dsp:txXfrm>
    </dsp:sp>
    <dsp:sp modelId="{01FE9472-C3A4-4876-AFB2-A011CDFACBE6}">
      <dsp:nvSpPr>
        <dsp:cNvPr id="0" name=""/>
        <dsp:cNvSpPr/>
      </dsp:nvSpPr>
      <dsp:spPr>
        <a:xfrm>
          <a:off x="1173489" y="996214"/>
          <a:ext cx="1115179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28</a:t>
          </a:r>
          <a:r>
            <a:rPr lang="en-US" sz="1300" kern="1200" baseline="0" dirty="0"/>
            <a:t> OFDM symbols</a:t>
          </a:r>
          <a:endParaRPr lang="en-IN" sz="1300" kern="1200" dirty="0"/>
        </a:p>
      </dsp:txBody>
      <dsp:txXfrm>
        <a:off x="1227928" y="1050653"/>
        <a:ext cx="1006301" cy="1219408"/>
      </dsp:txXfrm>
    </dsp:sp>
    <dsp:sp modelId="{1538009E-8702-45AC-862F-12C6A4E941C4}">
      <dsp:nvSpPr>
        <dsp:cNvPr id="0" name=""/>
        <dsp:cNvSpPr/>
      </dsp:nvSpPr>
      <dsp:spPr>
        <a:xfrm>
          <a:off x="2344428" y="996214"/>
          <a:ext cx="1115179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FFT</a:t>
          </a:r>
          <a:r>
            <a:rPr lang="en-US" sz="1300" kern="1200" baseline="0" dirty="0"/>
            <a:t> size 128</a:t>
          </a:r>
          <a:endParaRPr lang="en-IN" sz="1300" kern="1200" dirty="0"/>
        </a:p>
      </dsp:txBody>
      <dsp:txXfrm>
        <a:off x="2398867" y="1050653"/>
        <a:ext cx="1006301" cy="1219408"/>
      </dsp:txXfrm>
    </dsp:sp>
    <dsp:sp modelId="{4495F5D6-60A1-426B-902C-BF6ADCDCC3A3}">
      <dsp:nvSpPr>
        <dsp:cNvPr id="0" name=""/>
        <dsp:cNvSpPr/>
      </dsp:nvSpPr>
      <dsp:spPr>
        <a:xfrm>
          <a:off x="3515366" y="996214"/>
          <a:ext cx="1115179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Frequency 3.7 GHz [4].</a:t>
          </a:r>
          <a:endParaRPr lang="en-IN" sz="1300" kern="1200" dirty="0"/>
        </a:p>
      </dsp:txBody>
      <dsp:txXfrm>
        <a:off x="3569805" y="1050653"/>
        <a:ext cx="1006301" cy="1219408"/>
      </dsp:txXfrm>
    </dsp:sp>
    <dsp:sp modelId="{2C4CB3CE-BCEB-439C-AA8A-0811C30327CD}">
      <dsp:nvSpPr>
        <dsp:cNvPr id="0" name=""/>
        <dsp:cNvSpPr/>
      </dsp:nvSpPr>
      <dsp:spPr>
        <a:xfrm>
          <a:off x="4686305" y="996214"/>
          <a:ext cx="1115179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Cyclic</a:t>
          </a:r>
          <a:r>
            <a:rPr lang="en-US" sz="1300" kern="1200" baseline="0" dirty="0"/>
            <a:t> prefix 16</a:t>
          </a:r>
          <a:endParaRPr lang="en-IN" sz="1300" kern="1200" dirty="0"/>
        </a:p>
      </dsp:txBody>
      <dsp:txXfrm>
        <a:off x="4740744" y="1050653"/>
        <a:ext cx="1006301" cy="1219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19.10.2023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19.10.2023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82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538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608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330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0299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899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66" name="Grafik 3">
            <a:extLst>
              <a:ext uri="{FF2B5EF4-FFF2-40B4-BE49-F238E27FC236}">
                <a16:creationId xmlns:a16="http://schemas.microsoft.com/office/drawing/2014/main" id="{F5E57E6A-8A0A-4611-8D20-6EFE128A3061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BAC0EB9-6745-4BC9-B62C-D0408639044C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AE05F4DA-8875-4531-A3E1-9A9253C9B8C8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79262BF-E867-4B8D-A5D9-C05986D4B5C4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88B175E-3332-4F42-85CC-4D3CB1CDD67E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D3EE7E7-656D-44D0-A8E5-902F51365AD8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EB7CDC62-6D84-4879-90B2-CED3047AB955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F2EB24-4BA2-4855-BA15-2013AD15DE4C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56783BA-4BD9-456A-8E1F-DB395FAA4C27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A0A9AC4-4291-4429-A5E6-F9B02DA18E3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700BB3D-17DE-4AA7-9481-48C5BCF0CC6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2ACBC44E-27C1-408A-8EDD-F5913EFE6DB7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6905261-35BC-4E75-8193-766751D592A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F18B191E-54AD-4B1D-BCB0-A06E5A2804B1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CC01031B-1E3F-4B3F-8836-7B4C5789BBE3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30AFC32A-2C37-44C1-A1BB-2B0FC87FC6BE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D64DA7C-9D36-4399-80F0-718B75D53D4B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0884CE5-F60B-43FE-B570-CB0ED9ED2C0D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75BDE08-0A10-4A88-BFA6-8D059D2D02BB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2AB79C9-E3ED-4783-B671-5DB9D4288B46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113C232E-3E76-4078-8B81-B0E5AF404A15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82E9C18-DF8B-4CF7-9A49-42E90EFB55C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0445EFA6-D834-4337-BBD2-4534F841B54A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B6F9751-691D-4E48-94C1-0433183ECAF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FB40E5-F34D-4DF1-8178-3897A0349504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4A4C5803-4DBD-4AD9-99C1-243F55AFB06B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B9CC2AEB-7490-46DA-8359-E39B4D84B91C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F19BD1A3-4D27-469F-816F-F68E68ABC4C4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8E51CDB-CB01-422A-8B6E-58BCF880AD93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E33B8C0-9214-48E9-B389-6B44159931EF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179B9FE-AD40-45DF-AFAF-9A549A0A81BC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183F8D-EEE0-4CB3-ADF3-C13D2EDB85CE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DEF7A6F6-7697-44F1-AB8D-7381F17E2CAB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0A9FABD-4F3B-45E8-960F-F01F361FB27A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656E7268-0DA0-4990-9B9D-54FEE7EA853A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CBBBFDE1-93E6-4EA6-9641-358A19EB8BFD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BD6739E-66DE-4C5B-B2DD-23621B7F259F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54618B59-5213-46E5-878B-7FE5CF774D55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E48E0C61-CBC6-4D6B-9C7F-9C401E2F776A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4A078B44-E6FF-45AF-9463-415791E9E2B2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B8DF66C6-B271-49B7-A3C2-F924D0C2BAE3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D1A344C-4F81-480A-86DA-471DAC72211F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01FBA49C-9EC1-4B1A-BDC7-8C5BAA4A7D55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B005168-C214-411A-9B4B-10EE20B40413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61F30758-DF57-4F7C-A3BB-778F50AB2271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32F9211C-663D-42E6-A6B3-A0F6AF121255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C8DBE9A1-1B20-4779-B1AA-B1E13D2478BB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69FE9E73-4E3B-4C25-85EC-17FA1D2289A3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717AC0E0-ED3B-4A45-9517-685FC623E89C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AE7EF3E2-3EEA-496B-8061-462FA9487D09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5292C6F-4FDB-4207-9DD9-3F96570C8F1B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7D7DFA3-D584-4F02-BCFD-1124EC87E1DF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361EFEEA-62B2-4FA2-B991-E6318A38C981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0A67168-F32D-4D4D-A00C-917CD9297BE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99096E6E-B984-4028-B47B-1EA912394AC6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50AFA9AA-F478-4623-B334-3BAEF63D226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D8A89570-FCAB-45B0-AB90-6828CDF05FFD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5E55572E-2064-4394-B012-FCE69D487F70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B1C19C7-174E-4E40-B14E-DEDD91C40E6B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0FA12A8A-6A2E-48EE-BCE2-B0B9B6CBB27A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3D506DCC-DA72-4AD0-A01A-4352D892B228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842DA7F3-A16D-4708-9BBD-C812086FC6D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35A98327-C377-49D6-8F69-09ED7902DAE5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DC49EE81-A188-4CD1-8CD3-AFB03655F322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63A62EA2-8EF9-4AE9-B1F1-05C3C0F5D0E9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4704B4EC-9D11-4968-B598-698F7A8DC422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23249CB1-7CAB-4850-9995-1DB1DE9A66B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4ADAEEC0-8B60-45A8-863D-E07FF87452E4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EA5149-6C2E-4A99-855D-98D6F993252E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839566B5-5F09-47EF-8BBF-C6032C0EAE27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EA640983-2EAA-42F8-8CD8-C40B11C10E85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8CB5766-1234-4FD9-8FCE-26F2E15B7426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A8FEDDB1-CBE1-40C1-86CB-DB81E0C87CD2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BF05746A-F360-45E8-9C4B-09BDB0C8B7E2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93790881-6B20-4277-A3CA-BFEC2794C514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4DD1A8B3-6730-49F4-92A9-20356F6BBB5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0162480C-C888-494C-95F1-F8716AB5381A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23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B9A-FF66-154D-B5A2-25B00AE5BA1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4398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7719-0CDD-1D4E-BA0B-8D9CB6ADFAF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229CC6-1BF2-104D-8308-3638C45B0C3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292D92C0-5CBB-4212-BCE9-716C6B6424DE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2A6B447E-5FB6-4481-B2D8-A09018DF411B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3060E1A1-C4E7-4296-8765-37F76E9F6201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A0C2E8-4ACF-4B1C-9140-AB543D036643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02CDB60-6B76-4A73-9E02-FBED23E7883D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413A0996-722C-48A1-947C-E46434F342A5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987E1F0B-9C57-4D9C-B2D7-511921F951FC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CAC408F-20D5-4009-9FE9-636E1E424843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27B03157-5209-4144-8828-5793E615083D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6F7975E-24ED-477C-9C39-16B97BE788A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D367CB3-6980-455A-9069-8152DD40E3CC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FACE9DBF-00F9-4558-A639-53F0D6D09738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2C0DBBE-131F-47DA-8BAB-9240DF19403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723679D3-C939-4A79-9FDA-0DCBEC8567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6C4EF18-768F-4988-8404-D738609C421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7AB761FB-6534-48CC-96E4-97072970BE50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252D4282-8C0C-4BC9-B2D5-889BAE0B9BF8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A3BD648-4D40-49AA-82B6-0F77BD11AFF5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FF0313B-0256-4D3D-ADEC-444FC0E29F50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573CA73-29D1-4F5F-B590-AE52E5235C32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335C432-8675-468B-951F-534BBEDBEB72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736AA1D-204C-4338-9568-833E5EACF1A0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79FF1AD-B89E-4D7E-9C9E-1923C8702DE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5657D56A-B1ED-47FA-AA6E-6A8C9BA02128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9EF58839-67A3-44BA-9046-2566C7E1A442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8E6372E8-0F95-401A-B1E6-4FB792B1EDE8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7C726C3-A3CF-48D5-A087-667491C22A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B95B07B-8CE2-478D-B60E-29D2AC78ED26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6080EA1-4454-4744-9BAA-5EFA5C8C1A27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8AAF6610-7F78-4A72-89B1-2AB9939C2905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649B43AC-08EA-4CF7-B720-1043BEE94621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2D72BC0-ECA6-4BB4-9317-4BC921FC94BB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3ABA628-7B39-4E18-9E0D-FCE9FB16AB23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D35B9D-1EE2-47E0-8D0C-6B33FCB9C8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DFF885-8B16-4D11-994D-EFE7E661D63E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6CA0BD27-0877-48A9-9A32-3B8E26397C50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F707C74-32A0-425B-972F-31E8D762A89D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0CAA95E8-1F27-4E6A-A72A-5D659080D482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ECD4BF4A-3567-4DD0-BD4C-56FC4EFFF3D9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70B0303-9530-4B43-9D60-0EF90F6D1383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12F459-0E98-45F5-A42F-897D8B222960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42BE939-E3FE-4550-B97E-4391BA90C491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AE39D06-E89C-4DDF-BAAC-FCAA79E85C80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AB8E3EA-2F9D-4D73-A643-5B2B5754ACA1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9A4592F-1C49-4F5E-9BE5-E4E48029AC30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4D40DDBB-9A0A-4705-BF97-2DF2D76488D6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046803DD-55F3-4F83-BB7E-A27B2972BE41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C0AA9F0-7CDF-4903-936C-F843B3754074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54B4287-F015-4E37-9C35-21E17E5EA517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7577CF9-2429-4044-8620-CAF831058252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F0039E4B-FED0-47D4-9398-C45145558C27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94126F-7BE5-4CA7-B313-00A72B3D434C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53325FC-AA60-40EB-9E4D-8A985A64DD5A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6C39AEC-1240-4A5D-8FC5-377F1EDA35C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F3490B-3419-4249-8C80-D238BE44A872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A54C1D5-DCF8-4E29-9FF5-5F0F9153EF4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2A47EC5-7C10-461C-B589-1856F68503CE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5092D137-F396-46E0-B98A-74930DF55C69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939C7C-34FE-4634-BDE5-099BBD8DF521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BD1DC82-0D9F-40BC-80A2-BD8196D3B1E1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CA64A677-C930-4874-BF48-CA832CE306EF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8D1E66C4-75AC-4F53-A427-7415CFA3FDA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76323735-A19E-4130-A43B-9182218AFAD9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61A54191-9FE7-4E1E-A013-D1830EFB040E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2C968BA-238F-4DB8-8B76-C4B6289C932B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21E138-1FDF-4147-B757-233FA9BD5699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531863FD-2855-47A9-9854-D37A4517EC9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085ED5C0-779B-4E63-AE72-A89A39FDFFB2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916A1A36-E87D-44A2-A5CD-4A33747E2E24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80E03ED7-DC2A-4555-BEB9-7CF8005506B3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63170764-934B-416D-B1CA-25406C862DD1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D3B62540-1579-45C1-B051-365C90BEF8DD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50F532CF-5209-47B6-9476-F6C1639CC2EA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A86BBC8C-B975-4C3A-A6C3-939E38040DAD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23784A70-4AB8-4801-9088-0E386F52911E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044FDE6E-6E3F-492C-B773-6783BA96880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B728CC6-C9F6-45BF-BD25-24F47F2EEDA6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15548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A39F-B4A4-284E-B51D-B0785F950EB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9966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BBF1-942E-2D40-8C3E-3BA97E9C7D46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95260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0AA0-11D0-A54A-8075-50969963DBA4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7863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78D0-5F64-FC4F-A774-005D7117587F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750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766AF-C7CB-A042-9928-76042656BFA4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275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0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8595-1F23-BC44-8C70-69A25A661EC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2556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E1EB-EF6C-8B4B-A292-D9A2C479A27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A46EE5-DC32-47B3-BF0E-362CD6788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12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BFD0-B0BB-304A-81F0-458D9EE77819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30755EEA-F577-4453-979C-19EC4B0E99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0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2F5EE-2CD8-CE48-A8F7-BFA5371916E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739EF2C-11E0-4052-A222-7C9A717AF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7156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2A15-4CAF-2542-B028-BDF43FFC71E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D373DC4-B885-417D-8963-6BF7FDE59A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569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9484-B446-8746-B8D1-8B07CC32146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6F7B9C-F022-4BB0-B562-B99FB018F6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1670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el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5B9343-9C8F-B44C-91BE-4D37C88EAD5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7BB-F615-A44C-8299-104D9EE5619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6A9334-FF1A-48E7-8B74-42F4FC865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70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8A00-04DA-0846-9882-8159F71B4E12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4876CF4-2372-4CC0-99FA-483AD639C0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75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4B01F7-E6A0-411E-9B52-963FFE045C73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A565D70E-48E9-4A7C-92E8-0E0D01C46C00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E755454-569D-4A24-B052-250BF7AF1B02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9B7A488-9DF4-4A39-B41E-7BF709A81808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B3F6AB0F-8CCD-4767-A574-43CCC1786747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F0305C3D-2CBC-4736-8D8A-2BFEB5B6B41B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71643BC-9B46-4580-8889-D8099D3A4C0A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00178AB-232D-4D5A-ACAD-DABEF1A4DD9B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E2ADD62A-6877-414D-BAEC-EA2065214D96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27AF9E26-EF63-4541-8C2D-2407580A7059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0E1DA89-9BDE-4FB2-A195-2ED3CAF52BF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BB7BD4C-F348-4F03-AD58-08BF195485B2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B17508DC-5682-49AF-A5CA-4F2FF0820766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D5EB0492-5AB3-492C-B8C3-86512B8BBF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987D67E-556F-4FFA-A6EC-32CD431726D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ABAF2B12-1C5A-4BB0-AB4B-03B735E8EDF1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1886E551-8FE5-4116-9E54-46EEADB0B4E4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EDAD2DB-4066-41C3-90B1-4A3A8343F4DE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4815F3-7902-4E48-97B0-6DC7C19707FE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2B2F00D4-968A-452C-AF4B-1E4684C6C40D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B7EB169-B440-4481-B1C1-70AD33F7BBAC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A8BE52F-FCE7-4571-B2C2-F617EFF332E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EBC57D1E-1BFE-49FF-8B8B-D1A47689533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ED7B1C71-DDF6-41C3-A66A-77C32ADF967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B6EC8814-B5EB-46C2-9FAE-8261321637F6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AE679D0-850D-4B66-9747-AE6C9C29B626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79ED9BA-7ADC-44DB-ACD1-768C0D80A2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35B2E40-5185-4931-ADD0-4942629E3028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976CCBC-91D3-4C1C-A658-C18612120031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35AA111-8BF2-4A02-965B-10CB5928B8E6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30D49FB-3B99-401D-8FF3-F44F3B1B2497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93C372F5-6FE4-4768-92C0-35A768942164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ECAFD3F-DC1A-49C8-BBAE-CCE1DED8C939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8A36F42-3BFC-491C-BE5A-6519DC8683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693DCE3-71A5-4A47-9738-CD4D659B4EE3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364D41-7C1D-4357-8DC8-A2DD8A499D59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87EBE9B0-9706-4D68-B820-45821EF38E6B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16E2C14-CB51-498C-8A0A-7E74DA2FC22D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D5C32CF5-EEF3-4940-AC0D-840D455384A6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EDEC4895-2A5F-4C38-BAFB-222DA913F600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9ED392A-C69A-4600-B7D4-6713794E005D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096FE5BB-864C-4A4A-A3B1-E7628824E12E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279A58E-7ED4-40A0-841E-1EE84B394CCE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566F93C-F565-4D5E-B0B4-8B6C2777D246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3E6C7E8-8E3A-4B02-8C67-5C1EB06EBA8C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B654EBB-788B-48AE-B7ED-396BCD8B220A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DA75145-D387-4DC2-9454-DD755F2064DD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45567739-E6F9-48AF-B14C-A364C113AD6A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D88D85A3-1320-4E5A-956A-C7CC10288354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D03D3903-8646-42DA-9C9F-28869ED06F7D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41A2EA-CF5E-4FD2-AAFC-6B26378E9AED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9F5D600-DE00-4D21-8B19-5303749B3740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9F06A48-DF8D-4CE0-A7D2-FE0E314ABB76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E76C37E2-19C3-4FEB-AD05-35C355ACC271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B071317-7674-418D-B895-174740E887AC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4205895C-C798-479F-B85E-6DD6EA25ECEC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2FC205B-F480-4DBC-A765-0A475834F3A1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69AE56F4-0BAC-4631-8D60-8514867BA36A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67635ED-45CA-4D7D-BDE1-B603E9C8DC74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4E65E35C-CC48-4B60-A5C5-9B54FD845568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28ED8B8-344F-4ED7-810A-21695244E5AD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381C199-12C5-4DFC-A594-30891ED44429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4F10C4B1-9544-4A4D-B350-EBF3BA6357E7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A95D997-AE6E-4C3E-AF23-E20C66016EE9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8EF6FA-627A-4F01-8DB1-3A5222791E60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E73EF5F6-BF61-445B-BF37-654FE1C33588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C0DE013B-D5E0-4578-9B6B-315D8DB14205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E8596695-8763-49CD-ACA8-8C239ACC8015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EEAB3F08-40CD-4F6A-AB5A-A69E1BA0B0A9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CCD7B734-D929-4A4D-958A-0026E92F887D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CBAA0D63-904F-4DF6-8104-68839EF442CF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1A2991D-4819-435B-B57E-21000520800E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F89EA3CC-AC26-4284-9947-7C42C56BB94F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504E0F2-E84A-454E-8511-A4D7D076AAEB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29B3326-D8C1-4221-9C9C-D9609C794873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E932421B-13ED-4207-B02A-36CAF0AAF962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318BCC35-943C-4820-A85C-5342A12FEE1B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93916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0" name="Grafik 3">
            <a:extLst>
              <a:ext uri="{FF2B5EF4-FFF2-40B4-BE49-F238E27FC236}">
                <a16:creationId xmlns:a16="http://schemas.microsoft.com/office/drawing/2014/main" id="{ED3A60E3-070D-4FFE-ACC5-82C7C78F99CD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1378A6E8-5E61-40A1-ADC7-BB8241D78CAB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479F7BA-6306-4887-99BC-614874E49D1B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F595D11-B766-48E2-A8A5-40637E510CAF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E743C790-A8B5-4A61-98F2-B4924B52D41C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FDE4E84D-F997-44E9-A9A5-0A62D3B0C03B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DF73890-C5BF-4AFD-AC1C-B988B716B204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F2960B7-B9B3-4301-AF83-0F6EB0017746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79A8BCB-276B-48DE-8727-8FFE47B56DBA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A55528D5-0046-4FF1-9B16-39F1FE9700AA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74277C29-BB8B-49A5-95E2-39DD1E8C3296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59A52F0-C4D1-4FDA-BD54-BE8E53644C3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C342AEC-6092-465A-AF0C-445D72382700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EDFEEFE-C724-49DC-AE55-7A6CECC836C8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D40B74F-6838-4A8C-B1AE-BAA26E839892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6EFE6BDB-32E1-45FD-9979-18D01839B431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C94FABB-C1B7-47AC-B5FA-ED08372AD0B7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1FF9302D-5100-41CD-9A94-BB9A327F043F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A61693B6-769C-484A-AF3B-52D595710058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0650D62-B6A8-41BD-A957-E488D5B8C256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83D60748-9F3D-48CB-B7CE-1BC2FFB4FD82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1A547D1-B041-4771-A00B-E50A5006049F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477AD55-72FE-4E4A-92CF-09386353BBA2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024DD0A-0FBB-4B47-ABC6-6E54E8031F66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5F1AD1F-64BF-48B4-9755-282432ADFACC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DB4DDC7-6C61-4939-92CA-01D3FB477652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0736FBD-FA52-4AE9-8827-E3DF4E4F7CF5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07BCB843-3BB9-46FF-B90F-800B2292D37A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7782F49-F363-4B9F-91EA-64E42DC9C684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8C8522A1-4FCD-4897-8EE8-FD8178D4BBE6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2271EE6F-F879-402E-AB11-5499794221EB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539204C-F873-49CD-BB1D-7FA2F432F701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91F0BE6-8EDF-47A0-8EF3-57702EEAABBE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CF9B2426-8D02-456C-82ED-0D82B829369C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678B72D6-DAAB-43BC-B5FC-70A00DBF703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C8B66ED-8DF7-470E-AF97-15561A3B2CF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F93C31A0-CEEF-4EFA-A781-8C3C4372783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BF598C7C-6BCA-413D-822D-430B04602F5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812EE47B-93BE-4CB3-ABF3-9C85D3BC3E6F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4A46CF7E-ACE6-4F69-9FEF-F609D6841E74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1CB58E5-0337-4D78-973D-EB4C187D65E1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E40E8D8-E199-40E6-8690-1DE14E0E527A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7DFCBBCB-6A89-4252-AF71-8A399106D1F1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044F98B-5734-42E9-BBDC-067BF4F1A0C8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8E11B17-21F7-4146-9AEE-EA09D477F64C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60207F7-354C-4DC5-B567-13E1323DA64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BD7EF543-609B-464D-AB24-9183FF26AC61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1AD4F9E-3A5A-488E-B51D-8A2B38B0CDAA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A0CED0-0736-4758-B8A6-67E6234B3EDF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D6034CFF-5D81-4E3B-ADF5-49B995423F73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E15FD32D-BAE8-461A-93DC-08CDBAEF08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E969D33B-E173-42C9-8DF1-CC58FEBFF2C5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613E92FC-45A9-4270-8118-8D444A59C709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424268E4-C7CA-4E6F-A748-A35B009CF8E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B1A7E44-CA7A-4D72-921B-A6BD6BAD08D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8B8BCB8-4E94-4420-8742-33238C69DDA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3A089B16-79B7-4421-8A7B-33771D317057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CDFE04-0DE2-40A3-B8E8-039583FFFFA0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2586C2-A0C5-4A83-B646-C10FFF020C60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BB25F2AB-0F00-40D3-93FB-A91039D5E6E0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A09C787C-EDC2-4567-8249-D6C78F28212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E4EA-1693-7444-9C08-1EF16AE4423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2D98-8FF0-674B-941A-5CE08EA826E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D12848-FB21-3B46-8131-004C1099C46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1A01CE4B-9412-456C-948A-B09C23D18948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C7016A7B-A4B5-4AC3-BF6D-E95A64F5E757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76281C8-8795-45F7-B273-88EA0DA0106D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DF621E12-0537-4F63-B245-FACC775B29F1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9AFBF4D-1BBF-4F33-9E71-39A7EC7F71FF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33761B45-EBC4-48F3-94D1-D0B61592679C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F4C0E73D-F458-4F58-9129-66C04E9801A2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EDB0FB31-98EE-4941-A811-2AFE3ABECCFD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24E4DA1-D71E-45E4-9922-01AA5E3E6A5F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E6CA6790-7895-42D8-BA21-2985EA6CFE95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34252C98-A2AA-4819-BD6E-3092B709C2A0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D35F3FD-B38A-4655-B804-AE6DF15DE05E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1372FD3-692D-43F1-ABB5-ECB3D6E14634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EE37A480-2EF5-450F-8034-267855EAF8EE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8DBED685-45B0-4DB1-8D1F-1721610B6EBE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1D0B45B0-332A-4493-BC02-3060F109129F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A6FD466-169B-4F75-942E-689EC5C0E64B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0B78F095-D5BC-4777-B45E-2A0974088FDA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E961B20F-6BF9-4476-95BF-6940DF58679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2F1098BD-9E6B-48AD-8277-D894FBC001B0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ED7ED6CA-E50E-44B8-8124-0BC825AA6A8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3F6EBEA-DE7E-43C6-A2A4-AA735B06FA04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B3084D-9A6D-4432-B0B8-78A2C9CA6C57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53A6E23-9342-4888-990A-FF8E4FD480B9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B426E48C-C34A-4787-B768-16E5A9D17D6A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7615B64C-54A4-4AD2-904B-94038BAB952C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B3BFB7-9BD5-4C34-9D06-AC7943D65799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77966ADB-5C9A-459D-BE24-5A2BEA535E86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D312537-DCFF-421E-A9B8-AE30CB4BB37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ECD11B4-70BB-4002-B619-D5EA3D2965F0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28A2D0E-91B4-4CF7-B2F7-90C7C7F367F4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F538F95-8D24-4208-AA6F-20E82E8F4BA2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A3C1939-5697-4E85-A1A5-C912A60338EB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74A758B7-C89F-404E-8A81-AF52E986AB67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DBF08E2B-7525-44C8-AEAE-5AD0BB721D24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1ADC3CB3-6C6C-4A42-A262-DE9C860D0718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478A2E7-2C2D-4074-BE32-550E6CC87CBD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30787BF8-95C4-40D1-AE1C-FAA8A8A397E7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98929552-9ABC-407B-9587-131D54401CDC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F752B82-4D94-4179-B1F4-7DFFDB975482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B3177CBC-CA24-49A5-8158-7AEB6780019B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F8C52-CCE6-4F1E-889B-D672DAC96462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685CF63-81A1-40EB-820A-C74025CA8AC8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C5B9D47-061E-44B8-8092-76D3A05D62CB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C59B211-BAB8-489C-B154-5529C1834206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A4F19CE-1147-41B6-A789-087E963C7CFE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E99F0637-ACE1-4143-A682-71DB314898B9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D98275-0AAB-49E7-8C98-A09EED60B8FC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8C9F4491-3D5D-42B3-8605-45E6CA52B8D4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C73EEC4-619E-407A-AA74-3DA3D18090D0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1A37F81-D616-456A-9BB5-630F98BE708D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097730BE-9166-460E-AAD2-4BEB195E1174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2E02141-6B4B-472B-8FC7-E4B47D9A77E3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C381119-A2BA-485E-BE98-479B24429EDD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16C63372-1C8E-4CBE-9BE1-F118ECC8045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7A9BBCA-24C0-4BE0-ACC3-A8F17B9FA8A5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EEE4BD-D09F-4028-BE39-68FF6FE4817D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E6C8FC0C-FF6E-46F6-A3CA-026DE75C28C1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81D94ACD-F368-4472-9DCE-514A0AA54968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C8CDCFB-F73C-48A5-BAD7-18CB5B87C38B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DA8859A3-A58E-46CF-8142-3F1B295D361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3220-D2B0-5E43-9545-C983F3B891D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70E6-6A8A-BC46-A93C-FE3DF9BFB8D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CEAF-2148-1247-A2EA-32D38316C404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ADC3-57EC-0F47-8BED-0A13A3A66DB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A9C5-7740-0040-BDED-E2FCD57509C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0724-3FFE-474C-B7EC-B5434782A6A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053A-CDDC-5047-8FEF-9AFCA1B66AF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270B-04CA-9C41-8E60-C1F5877C94B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81BA0-5BB3-5246-9E50-980A1A9B4EE6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B164-C25A-3344-8170-0DF909FFEEB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8F88-B8B9-BE47-A5E1-02769489728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FAADEF-559F-F444-88B9-75C08831D4AB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7A1A-185D-C14D-9795-4B386CA9E3B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814B-9FBD-A94D-8E13-5C42A3C255A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3FFE2D6-CE9B-4B10-874C-597FC55BD0EB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45C6E753-C535-4A2E-9943-8DF5CC64DF98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59B46B7F-D212-453C-80BF-A6C40A6C0451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78EDB47-2349-4B04-8AC2-36BB12C1C39D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8D67DB-86D4-4757-BF80-C74C3D598079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0C0EDA80-7B98-43BD-8E81-D5B121FB9706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E69B34B-1A8A-474A-B629-2F93AD545BE8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135E7B-66D5-4C03-B51B-A261BFC26522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8F3F7707-F1C6-4427-9DB7-FCECE008CB27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E0E438D6-685B-4915-8082-8343DFB814E4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1A1D79-1059-4445-971F-C23FF3062008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1EACC0C-3E37-4DD4-96DF-FDE34BE06CC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C68ABD75-A08C-43C2-9215-BB2180C3FA0D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6EEDFA95-D5AD-4F05-BE43-90D2F1B713D6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CCE0483-5A60-4EDD-AB5E-C2CDD38042D6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3C1D690-F8BA-49E5-B792-13F9CED552A7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6B91162B-2F3A-41BD-ACE0-954CC778D4BC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E6A40520-E7F9-4A9B-BE6D-04EEC2395DC7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1D9A6941-C7A1-4174-91A6-625A9538394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13BB7DD4-25B1-4A81-A0B6-81701809DC89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EA8CAE56-4EA6-426A-8FEC-7FCF1CDA5EC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A847FBD-8DCF-41F4-9430-6C2133DF9073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8DA86AD3-2130-4893-98F8-724C5E2B88BD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87C5D211-1714-4F68-BAA8-0CCF90B4A092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3A4EEEB-1931-44F7-8DD0-70CCA93FE56F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58062EE-0C6E-4E08-9366-930B1EC5A423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CB8B1DBD-8A03-40BE-A043-3E75F48DC906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FAE65FD-02E0-4069-93FF-B6E34C2509A9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BB5CC19-A116-4318-9947-CEF7AD43712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C5C58F9F-B4C2-412E-8BE7-E2E312D955E1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D489816-B6E9-495C-BE5C-702D18922C49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2DDD381-1879-4360-925E-2E2FAB769E83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6F9E7FA-DD20-4A3F-B947-C3E6352B7EA0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0D84DBD-C27A-43CD-8985-12C88AB5F9AE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94233EBB-FE37-4CE4-89F2-97886A4BABF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7A2AD458-911D-49BF-858A-C8BBE6FBCB2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20CF276-1400-4BB7-BE83-A79F8856A4E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D34D773-239C-4D74-81BE-0FC6195EB2B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717406AB-483F-4C36-8A29-92B6BFF98885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C10380E-8231-4359-81F9-4B25B77D5ECA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FEFFC8E-05EF-4439-9D01-F9FD118AB61A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15CC45AC-F73E-4AEA-832F-4EB41A9FC1A0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C3E7569-FEFD-4840-91A2-AED5BF9C3024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4C8A46FB-F89F-464F-AB95-1955CB3A057A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0BDD119-E404-4E32-9FCD-F32FF7160AB0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3E823F4D-1704-4718-A76C-8A78BB2CF3C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FDE95C1-131B-435A-9D59-14FB31EE8986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500E535E-8025-4D42-9149-C207DDA98379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EF497F22-FF1E-455E-9B26-2218731DEA9E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B60477FE-90C0-4774-9C70-17D5CA53298D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EF0023EF-8627-43B5-8FB5-CA3ADDC100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74358F21-1A96-45BD-993F-F2F065AA2251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3A8A515-862A-4F6A-82DB-B96CF42A8D67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E2C598-8BEA-4337-B381-3B90B86F167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93C3EB6-379F-462A-97E1-8223B7D72B98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AB878F57-4CD5-487D-B929-B5D17E7037D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9DF4386-8A6E-409B-9C72-1C6CE27164A2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4851C5E3-828C-4527-B7BD-3339989145C7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A9397179-8378-443B-9F78-4EC0E5FF56C9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416B46B-F997-44E4-9A7A-2C0AA4735DCE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A06D570A-B13C-44B1-87AF-99795C3F859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41" name="Grafik 3">
            <a:extLst>
              <a:ext uri="{FF2B5EF4-FFF2-40B4-BE49-F238E27FC236}">
                <a16:creationId xmlns:a16="http://schemas.microsoft.com/office/drawing/2014/main" id="{6137700A-CC4E-43C0-A285-5EB4C4D8DB59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6B91A8CD-98F6-42A3-800A-C635CCA887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549274FD-58DD-4FAF-8D02-55582E234285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3AAA0352-F104-41B2-BE0F-3590B98C7C9D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E814530-3828-4A24-BE5E-FCABE419B518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7B6A0E9B-656E-40B4-8D95-E6C5661FCAC0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8C6043E1-1047-4143-AE4E-40A9E12A9C0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D5C9184-3CC4-4501-B870-F984583E988B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869AD892-F335-4BFB-8F2F-2EE8B8E5E8F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D4F83502-E212-4AAA-A2E4-517247605A2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EE3A909-5BA5-4896-A5F4-B99113BAD67A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C42CAE58-7688-4A42-9F49-7C1A17FEA91E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F5E85483-C91D-49A4-ADA4-0BA16C3D9EF8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4B206A12-4618-42FB-8ECF-8ABE45C0411F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D534A7B6-93CE-44CF-B039-9BD62FFB1ABC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69E4AD7-9CBC-47E4-A150-82143670658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E9FE3F8-CCF5-41E1-BF52-47B95AA3BBE8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339F6C1-7626-466E-BDC4-6BC4655E648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68752AFC-B321-4C30-8C54-CEC9D9023B13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EDB161CA-7E11-414E-B351-EAD8C9475A17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E44CDE7-39CA-422F-8718-5D4E4E698B9D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121B33D4-82BB-4EE8-8105-D9DB08B0048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B240D7B1-4B99-4E33-8513-9C4B65AB7A79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D00072F-DF48-47A5-B159-6A25EEBF77A8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3B21D0A-878A-4D2A-B912-C524217301EC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6781AA2-902F-43E7-8524-0A4A2EE7F006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CD18816-7285-4DE9-9DDC-71EF7BEE33D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29C4B1F-66D8-44B9-9DCB-5EA808143694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F27F74A7-EBA9-4D92-B701-B68A25744794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8349EB6-FBD9-4892-B559-568CB7506698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C7F7824-6B9B-46EF-A15D-FAB86FA0C8D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0287798-80E0-49AB-8FA9-A7802A4BA50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454F467-A1F4-4F72-9271-42EBD14BE8EB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83720D2-CFCA-4B1C-9031-8590404EC8CD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4014799-7763-4F5E-B627-E20ED15E9164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9FDD39B-3138-4807-B4B3-385554B82372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E6C9DD6-5487-417E-9F60-2D6E8560168B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FEB6FA-3CAD-46B7-8D68-B7AA84793B04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9C49B8E4-8A51-4538-AE79-AF434DDED268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42CB422-11F2-4F02-8408-1968AE9F0B4A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0971886-809A-4633-B2A0-BFF14EF6EE8D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E4E6EDF-3FCD-4859-A7FA-00DA1EA40453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B8E1A26-27B5-43EB-BCC4-C7EDD1745154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C7350A6F-AEF2-40D5-B18A-25F40CB1AE29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94A77134-1757-4B16-9CCB-89DFC24F4583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1E690A31-8E26-41E0-9B9F-013D263A32F0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83EEED3-728F-4244-95FE-E7CBB4E571FE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25B4E81-689A-4F11-B3FC-0109065DF5A0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9BD00AC2-D5A5-4018-8E4C-A3FE601BED21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C6C38B0F-FAF9-4838-9513-DD81F66BE36C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9DECCA2-8126-4621-B1E9-225B9CC8BD1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9F48B69-C336-48B4-90B8-DF787E1ED845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90" name="Textfeld 89">
            <a:extLst>
              <a:ext uri="{FF2B5EF4-FFF2-40B4-BE49-F238E27FC236}">
                <a16:creationId xmlns:a16="http://schemas.microsoft.com/office/drawing/2014/main" id="{D288DBE3-F17F-C642-8E1D-4786B4CD1D11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156EDB6-6627-224F-BC61-F43AD7D0B0CF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47186490-D152-294A-A564-F6C8565E1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0D4DED82-48E1-574F-A5B8-6A0F11E2550D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69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B554-6745-DA4A-ABB9-816BA4619D92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5C6D2AEE-C7E9-8D40-AD71-5F9B7AFA42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05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241F-09D1-F442-A67E-8ACCE3EEA7D9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7542BA39-D316-470E-9589-E46EE29AC52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9E3D76DD-1BB8-5A4D-9EB1-C68184F4A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8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0EC293-951A-F345-9262-D1D1EEC9176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37E6B3DF-5023-4389-B81D-D5693ABB5B67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AED8277-653C-47D2-B038-A1B365F0C07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5C92A5BB-6532-457C-BF70-CEA37B3D00B9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D83E51-3651-43AF-A758-D8EAB7F1DE6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AE9DE47-2100-441A-AF8F-B6656A85A29E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82F9C808-C971-4C71-8B8E-8E1522DEB033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4A9192D8-3754-405F-94AA-F053F2FE366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E3CCAF0-731A-462F-B849-752B7AAC53A8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6E3476-867D-49C9-BD5E-B4FD54ED947D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93A481-2E85-4A20-A917-C5A1CC10727E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75B00E1-A444-45AA-B896-18C695BD10C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6F38E875-EDA6-45E4-830B-9D992D035F07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EB5182F2-73FB-4CB9-9E91-947D019A8F17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67D886F-6FC9-401B-9251-AD38C062F48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1795BE12-FA44-4375-99C7-2C21B9038021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CC4F8284-C36D-43D0-94D8-3341EC9E4FD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739AA9B-F674-4AC7-9697-E665D1C5E54E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87A3CBCA-9587-4F2E-89F4-52C56F0E667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D20A0AC3-BB00-4222-8E0C-DF0BFFDC810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995FA418-1D22-47ED-8473-BF05C355BBCD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F468C89-F681-439A-98C4-0D6A60EE62F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D04D7ADC-1CF7-4E3F-A016-713FACCEC58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ECFFFB2-B9A1-420F-9BEE-D629610BD89B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F9FCDCD-D972-43CE-A40C-8CC813FDFD51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3B066928-1E72-487B-AFB2-2C383A73BBC9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F415682-683E-4CEB-9D53-084796374DF1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AB4C0555-F376-4AE3-9FC2-9D548F5895C3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17A4FA34-7CC1-43D7-9085-E14A26FC9D7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79E7E56E-40BD-4374-BF2B-EE9542AF8E66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770D6381-A1FE-4650-9108-C09FA97B64F1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B565826-CB23-4587-94FB-0DC86DDE3CE4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DD1E3C0D-9B7F-464A-AF5A-F74FF099F79A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7451BE7-0DEA-4CF8-9081-F22E71D71274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1D302C50-8640-4F59-84E8-36E787BA7CB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A0C7172-E728-4345-9EB9-B763EB657A4C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7560A71D-130F-449E-9B2D-45E1FA681F0F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A034AAE-CC36-44D1-836B-C9672154B99C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6D70CEE-A5F6-429D-8CAD-D64B6E3F5236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CD8B3A5C-E7FE-4826-BA96-35522A693DA6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16294A6D-0599-48F4-9E25-DF46F942F3DD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503A72C-ADC9-40A2-B16B-83B1ACE63DD7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AA51582-9061-45B0-9C3E-108F97B81C62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2C9D6E4-59B3-414F-A8E2-D27DC7CFE67E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D6ED093-8664-4317-B1E7-E8FAE51D600C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6025B4-5C05-4AF6-8667-2A4E502AE20E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F4DC551-B3E9-4D00-8D61-206ED592821B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FDE9C04-36BF-475E-8DCB-FD0638FABB6B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CC26329-58FC-4D62-98EE-42F2B60B572E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3842BEF-B994-4D4F-A6EA-60CEACBC26BC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0B5D89D-F190-4A59-9F15-FACF108FD217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CEB17902-223E-4202-8701-F792034C4DD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05E5A2-ED12-433D-9020-609383C06DE8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5947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9705-E453-C841-AEA7-7682DA06713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88656BC-571E-48AD-A882-67551EA60E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304871F-ADA1-114A-8264-0C857E99BD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6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7190-0734-1B4D-9CE0-365C5960A9E6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C54F3FA-5C25-44AA-90BB-73B1AF7891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1C221DA-B247-4C4F-A60C-53CF21992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86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B25C-07E6-5C4A-BA6F-DD8DC1DD0D8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5B4A737-48DD-4B17-9EE4-2BFBAEA3BA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929B309-A4C6-D94C-AD31-E11ED14B37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5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9A89-82D7-2F4A-AECA-70EE2ADCD1D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668C6C1-D6B3-4AA0-8796-F8CCC97278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C9780D5-F9C6-3F4C-B03C-7660247C90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03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117-3665-D447-8654-0C247B5382F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08D3B7E-E8A7-4B29-B063-A4BB038B40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9EB33F4-0D6E-A04E-91F8-4FA9733FF6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507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467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E8E2-3B70-CD4A-B480-D3F9A4FB3B8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67A175-1D22-4413-9F52-E2DE02F017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4F32DCA-97BD-1044-9790-C99A71AFFB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67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8FC3-E23C-CE4D-AB49-109FD9AB18B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2BFC85-9F5D-48DC-8AD9-31F8731D99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74D63E-D28E-2F40-B3CC-27F387C7E1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137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FF89-15CA-D245-AB15-62213D0BD15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B81ED5-F90B-4E10-A216-1402013051A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FCF18434-49CA-7848-BB84-195E22B58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81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D3E3-E957-4B4F-B879-255203E4EF22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A864028-DE14-4674-AA2E-E09C2B5EB6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07D4736-E70D-C548-AC1B-0C2BC1540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5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89D-DE73-8B4B-BB60-F173A32EA4E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7E99F22-1523-43E5-AE41-9E7E4BDDCB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AA3BF5C-93AE-DC41-9739-CAFD4E8CA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249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D62C-D550-1F44-9E23-24F6385AB5F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ADA30F9-282E-42EE-B40C-6EC25D7E71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74D0B86-9321-824E-B4C0-B7D04FF0C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991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Hell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F8F328-A255-6545-AB85-60700F5E125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AB0FC998-8B87-344E-B939-4BEFF216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0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BC07-DDCE-7A45-9A5F-F71D9F1E9E5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F1156E9-9BD3-4A52-A0E9-EADD666CA5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CB9AE87-A16F-4843-AEDB-CCEF284E93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04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98225-37CC-1B4C-A673-3161F919CF3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B7054D-298D-4124-A74B-3C62E029C7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208599-5802-FF4F-92BE-2AAF0DA7DB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69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4779E26-A476-42EA-AD8D-4B07F6EB993B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8AF7F99-64EC-419E-A9FE-C7BE6D171430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DAED7EA-DCF7-4860-B84B-121D7047C943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D8548502-EFF1-44E6-A928-F93F3B6F1EFE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E12015F6-6ED8-4580-B33E-BEBFC6FDDA03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CA680B9-0002-469D-B19F-8AB1ABDFBDF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551F0BB-C381-430F-81E6-0FAA45096EF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C38FBB-BE52-4B89-9B54-0948294853E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9FD5BD7-B9C3-43E5-8516-25B362786EE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8AF7167-E2F6-4B95-B4FB-C31F86B73E29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CC128E6B-175C-415A-9742-57588087E60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65A94EDD-4550-4A39-A867-4A8D6BBA9DF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A0347CB-06AA-463D-8B58-8B6629F36FC3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29919BA9-FA5D-417E-B7D4-5AB0A600FDE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30556B4C-AC06-475E-A5F8-60FC751F3BA2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E1A8FD0-EE23-407A-B290-A55B79F5849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80E6152-0944-43C9-A284-001F9AB95DA1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D1F8BA2-2302-4D66-95AA-E9110063E77F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15AB86C-CC73-4CF0-BBB0-A3908BAB5E7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E14FADC3-3A10-437F-9828-8A6A3FB9A133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F3173C-710E-4BAE-AAEB-19FA56F0C963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2C3D6E61-85EB-405B-893B-F26EB72BAAB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3C3AEADC-A3D3-456A-9957-A4E839B897F4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56B0E1F-0AE2-4EE0-A8E6-C7D3A19B8EDB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E597644-4C56-413F-B61D-BB6A4A21871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2594EEEE-C9AE-44FF-9237-725D045E495E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69B8C1D-E7E6-41A7-B65F-E92630333CA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E9327CA4-0626-4305-8400-F3606E570A3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BAB7582-502F-4C33-BF2E-6A6C0D6D3E77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7BF0676A-C499-46C7-87F5-268E3B0716C7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62D3462-3BB5-4D11-8E9C-AB6B60F6261F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19943262-94A9-46A3-BE23-E2560BE8AF56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20274D3E-3890-49F2-833D-9928CB4B7279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5DE667E-B935-4405-BC8C-F21A4C493E9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D2928E97-2746-4149-BAE5-4AE6B968646B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91513253-1B85-4489-B643-D8AEDC610F81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9291906-37D9-44EE-8FC6-C09841BC0716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DE2B0C2-A6C9-4D64-A0F0-54264B64D1FB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E9CDB743-2203-45F3-9005-B6A6BEE56E6A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65084F-7B62-4FA3-819D-F0DD52EE3BC9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1ED3F01-F23A-42F0-B153-318BBE6AD2DC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DEAA916-72EC-431E-BC57-9F297CC81456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FC34AFA-C448-4AD5-8BB2-A737A249D9CF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00A833-4342-43F0-97C0-45736A97759A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6CE2337-43AB-431F-A6B0-A234EE91C196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BC3A9A0C-35DA-497E-AAEF-E8C16E3C88D6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667A68B-9A78-450D-8063-29EB96A7534A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277A812-5920-496B-87C7-B393D29BE953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9E2AB75-052F-40D2-A9F6-2026DB82E76E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2D013DF-4D88-42F7-BA58-EB565F3484AD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DEBF3C4-F570-40D5-B49F-FB772D6610F5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02E9FAD9-60AD-4C62-9E52-5842A2EDEEE4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37066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1" name="Grafik 3">
            <a:extLst>
              <a:ext uri="{FF2B5EF4-FFF2-40B4-BE49-F238E27FC236}">
                <a16:creationId xmlns:a16="http://schemas.microsoft.com/office/drawing/2014/main" id="{5ED2637B-07F7-4775-987A-93DC85F97AFC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8EE16B07-A759-4BBC-A314-9BCAD261EF08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B63840AC-1E7B-4C28-BC2C-1C029656797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4DA475E-3745-406F-88D2-74303AA02D0B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2524AFF1-A6EF-4725-B777-0C9645F467AE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31BE8262-CF45-420A-ACA3-A8F39E57A171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1855C8A2-06ED-4920-8016-BD619D8D10E1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1A266FFA-D919-4187-9FFE-9F96B3EEA0A8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16CA38C7-02DE-42D7-839D-4E104D320881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7E80BB0-7258-4BCD-AA21-9F28D0E1468E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1310413C-FD25-48E9-A1EF-86367CAF5262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B821BE6-5A92-4DD1-99B4-168630F4D42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37D8227-F07D-4985-8720-D397D1BABF3C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D6ECD825-8509-4FC7-8F36-1388F0F441BA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556B67C4-1CE4-4FF5-B5B6-35A65D082FC7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608E3BC-17FA-490E-98D4-A4EC5ADA8C54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6A1B34C9-D7CE-4912-870A-D442BC7AC1C3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B6BBEE1-67DD-4150-84CA-F44265322768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BB36E697-0A79-445E-9543-822501A316D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D6A5235-4406-49B8-9431-36103C871D41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C8A01E-4A50-4E72-95E6-1E6C059E4777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C00FF19-F5E2-41D0-A86A-587D215E4413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65284B-B43E-4869-995E-03E9EF24FED9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CEDCCDB-6473-4929-A39A-339B891A4342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12897B1-DBCD-4E91-B5A6-A1D097CC016F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0F992F86-490C-49E8-A49C-EBE355E80549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382B1E9-D95A-44CD-A2C1-B488EC588946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94A75078-E929-457E-A5DB-126D23196FA2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2FE959-5A44-4879-9A15-7D6AA4FA740D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E630AD0-5153-4382-A12E-AD9144EBE047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45CD047C-D0DA-46DE-AD6E-93892DEB2DA9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DF65D36-B05E-4E89-BDB1-3C2FEE67475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B490D5D-4736-4339-925F-F285DEBE385C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3411A6E-3B6F-4024-9CE6-F6370472904D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5951FAF-F82F-4540-9DD6-D917FDD30674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FCD3DA8-AF7F-4089-9A63-F59C7F1E0A37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F0E0CC6-4E11-4938-B832-2AA66A5C786A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85FDD9B-14C1-4F9F-BB48-D94CA292EF5C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A31B10F-FD3B-48BC-9E7D-ED8D4E8246E4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D4E63FFB-C322-4D48-BAC4-F9F4CE9CC98F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9831F038-E584-4260-8C9F-E79A896D20C4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7315109-6E9F-48C3-898F-C1C492D1DEAB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700FBD3F-6E1D-4AFC-9AAA-788473C4FF35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1DD09B0-F370-4FAF-9908-33E0C9A5A1BC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CFC69081-2BBF-4A0F-8D5E-7C499C54182A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0D0C467-BF24-415D-A20C-A4B322A30D34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CCB0406-1162-417D-A7B5-56D204B932B7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E1F5B04D-004B-4501-8B0F-D976156E7753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2F5B88F3-1DD0-4AFC-9094-44C73671622C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5D3857D6-3A80-453A-A07D-657071631618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F2B45F15-F1EA-4568-BD85-4A2DE314BC3E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CCBC40A-98D6-42A9-80B9-5DC279BC5859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04D48BDA-2032-4C6E-B507-3F893B02206E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F0C9D7CF-6834-48B2-8EDC-25AF0FF9957E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7FAD7038-7556-4322-B088-027FF5EA7129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FD69EC3A-6073-41F6-BB94-809D254546F0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722DEE24-7892-4493-8701-609CCE42CEA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D93E693-26D8-4770-BECA-F0D3FF0C4A87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A2C34963-C2BA-4B9E-837E-0092D92ABBE4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750F881-A269-49B0-81B9-8BEB26E0D0A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9C228C4-1ACD-43EA-AFEB-3E65945F1EA5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2E970C3-AE5B-41B5-ABD0-8EA1D1EA3FE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4257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3999-6CC1-4F40-8A18-89F7EC22D84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304541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05E6-8037-FF48-B0F4-76DA8DE0ADFE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36C1D058-784C-4D36-B8A1-0A562AEA81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1001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D3D130-2A40-8C42-9E59-09A0F52EE01F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067EF033-A919-4E3E-89A9-FAF1E7798028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16FCAB3-A3E5-4531-B1EA-59B8F2934F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E4B3AE-096F-4974-8350-4F4D93FC320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CDC0A16-E123-4D13-9DD9-28C8FE5AA6F5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CA0B94AD-8D34-4B40-8458-0866BBCC464F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A94F107-4E11-4806-8DDC-3CC7C1891196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4E53509-1364-44FD-92B4-FF3CC9A96D45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685A3D39-53BC-4038-BFDA-851F9712E06F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62E33717-F4F0-4CF8-8E15-202A2B827DF3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6B2EF321-D1A4-40C9-B09D-2892881315E5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6E939899-66C7-4914-8269-47E3D303060F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33D2C18-DB64-478C-9F57-B3373239E9F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9EDAA5-9D2D-46A0-A1B3-A9E065EA2F38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9FEE96A4-D7EC-4B2B-B2E7-DE8D3474F32B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FBB05E1-F158-4DD8-ADA9-4C6CE098B48D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9577D94-AD2F-49C6-AC94-666AD3E18043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AB054986-638F-4DEF-9C64-237D5B52C051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3D306362-98AD-47FC-9A6B-F2E497E9140C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E146F0C-5076-4628-A8D1-C1B97209CB4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0862F46-80E1-4CE8-91D0-C59CDA9CCD2E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0ED134C-C407-4575-BA70-944D3875C3CD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8D99356B-BDF0-44E7-805D-D835620BEF7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65221D-BE15-4278-9DD4-9652DEFFC46C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706F29FA-7384-4969-AE69-A3B336309767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F1737542-B8EA-4138-9EFC-CA08C510198D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621C53F6-23C0-41BC-802B-9F26870C79F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DB0D785-F93D-442F-A947-7E14014D300C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FAB3F5B-7F27-4A74-B5A4-FDEF77100298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E56269C-9BE6-4114-A1E9-B8686D151C53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2E2F426-2F3B-445E-9C34-07795D634931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19170892-58A8-4B19-B59D-B0D499A2D297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DE0A1F9-537A-4CFA-8011-2EBAE2C5B73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EA90FB1-EF3F-43A7-9270-8C967FC74BC1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07BF4DE7-D1AC-45FD-8C04-8A1641E45F08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1276A6B2-8B8C-4EA5-B836-76DFE5B9C1D0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3B2BC34-A59E-4FE0-B560-E9569CF298B5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D49C95CE-D5FB-4124-9055-11F36AEADC6C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93A76C5E-2F41-4F31-B9FB-4D0839D43C9E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140756E-2574-44F0-9074-9328392ACB97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4D5A781-CCB6-4733-A1CC-7B66AF07F2B7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286052C-725E-4196-95ED-5A73339E7927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5A311D4-BCEE-41FE-95E3-C6146127B40C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B3C5380D-6CFA-43B9-A443-290AB0C2A300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8A1881A-1CE6-4B6F-8C59-66E76F02A448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9FAED69-7B35-458E-A35F-6DDE087471F1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C1D47F6-986A-41D8-BD7A-54ABDA896F33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CDA601C-2229-42A2-A7F2-6D0D0B14CE0E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85F4A99-D669-4967-BBBD-C0E6C914F4BD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9269C21-4B9A-40F4-B0EC-4302D1D81285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3DCF50B-B7E2-4B9A-A9F1-72C2786856E5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3378C80-94EA-4CB0-840E-7D1524EF66B2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578B968-B064-4B8A-B630-315830A91186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F571248A-4AB2-457F-AD4B-B1C61842CDE5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A6FFBD8C-20FE-49A8-AD93-91F6AB916004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9726AFCB-1AD9-483A-9650-9FF07CF67281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F2DF3C25-6C88-4662-A6A6-42B5BB22B511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5A3CF1A-6032-4872-927C-735172F42726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27D5CCD2-63F8-48A8-947F-AB27C9C2F838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2F709A41-6092-4CCF-82D7-E877063EEB9F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581773BF-ABD0-407E-AB97-E68F240BC3D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DB7A116-4CDE-41A8-8D2D-EF85A5B70166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F16F757-9510-463A-A785-07309AE306C9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731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807E-3C71-AA44-AAD6-F88E4480242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F3463B9-219F-47BA-A610-FB7E4EFC87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70223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A6F9-59EC-9E4C-A09B-797CCF53980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0B1B70-928F-438A-A4F8-3D6D25006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5358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D86F-7589-C04C-BFCB-7D2C23B585C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8037CEF-DC8D-42F8-A101-D7A662C38F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801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35E4-851A-4744-B165-648634BE0CA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009F8A-4A00-4A24-A6D8-404B72DE25C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30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DC67-CAB5-EE4E-997F-B7A355CEDF7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FCDCB26-1E50-4916-A928-F93F50FC82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65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972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E0D8C-0281-8947-9DC5-37C3050C1E9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1068D0-85DC-484A-8BF9-5725F4DBB2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52483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DD5FF-D892-3449-95CD-E9AA0BC0723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39FC616-E693-41C1-BD19-698B285144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0509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B3B0-EE83-744E-BB13-0306DC35F0BF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DD60A60-C176-4FB0-8C31-9E7D248512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64004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EB9F-EEBF-E344-B115-19E779D91AF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96D627D-C6DC-4A75-911F-5FBF1AB867D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8492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9478-7468-5D49-AA82-65ECCDA98A7B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47B7883-3336-4077-90F0-B93089418A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2510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5AAF-65CF-DD4C-AC98-1E0239B161A6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7DEC5F5-096F-46B9-AD07-8FF78ABF34B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763442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ü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3ED5BF-3163-9541-9431-C4285D264D2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2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9B90D-B599-5149-AE74-6E49CD0C867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ECE24E6-4A5A-4343-B2C1-436122DA9D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34164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FBA31-5404-F94C-9729-432E02DE851B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79F5836-BEF7-4EB3-8486-34259F1745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9660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011B2CF-5596-40FB-835C-D450C93B6163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B0449415-1C6A-4A64-8E2F-F702863ADC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738B0DA3-FE01-4AE2-A303-09F23CA731E7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D6AD124-56CB-4E6C-AA90-A81031F6BDB3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61C4E282-28A6-498E-9040-A910141F1EFD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73C68822-B829-45A4-BBE9-36FFB1E83213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D77A74DB-FD82-47F9-8878-37803B7AB3D7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19522EFA-8CEC-4EE0-9442-39E9ADAB2CCC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0DF3FC5F-9F16-467C-B353-4E19CECDB559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54D5478D-625E-4820-BE3F-5A2A1D1D92CB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FDF2471-44E2-421C-AC3B-D064ACCDB94C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F7D1821-AC51-4D3F-9530-6B9F6703662A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B17AE7F-A04B-467A-9306-87FE75DF0E04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6339B94-749D-4AB3-A33D-B33FA5BAE446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40C8837A-0B5F-4A13-B684-B3EB1FF4F1B5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79E37DC-409A-4084-8BCE-C5917C2A84A1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484E8C0-76B0-4B1C-9BF9-74EE12367B72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12417C7-0430-4F81-BBD4-AA6D1ED1EBE6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596D4F29-6C7C-4E6D-AF8B-430889FA2F92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C78C5412-D97D-4017-B0C7-8AEC1552AEF0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0A92F4-5A6E-4593-B6AA-859530A02DAA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EAAE5B0-8E68-4059-9692-6EA74FCE9E8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268B4AAB-F3FC-4A54-AE59-11D4B13AF48D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CE185222-A5ED-406F-996B-85DC26BD01B4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3B0202CA-7509-4877-85C8-CACDC758DC37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1547BA79-BB16-48DF-8A3E-A4E312335A4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D9038C9-BA8B-4732-A59B-84A026AFA342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94B26F25-E866-4555-9CFA-54479F3BDC9B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13C4216-5CFC-4D30-81F4-6398173809B8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ED719F3-A124-4E3F-B15E-D51E0B0B16B9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9FEC83F-D466-45C2-9AC2-A4F2E3C49543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E04CB4EC-8DC6-45C9-B808-C96E8C5508C4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58AC431-F147-488F-B059-EA67234AB074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11E2C39-461E-4E9E-87BB-0C375FF08B3A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D56B961-4367-4BC5-9ECE-62828F08D1C2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0A6D61-3390-4476-8EB0-7DE9776449B1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C2E152D-6891-4B91-B9F0-47DB3B128BBE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F487762-1320-482B-AA1F-A775BAF19905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39F0DE7-3D07-4192-947C-90054D2045DE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635A2E71-4279-4C10-85D7-36329C8072A8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4F6612F-7FFD-43C4-8253-5F26F2FA8205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618FC839-7C8D-47CE-8EA1-08C1B33D2966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BF38685-A8C4-4C94-89FB-0ED4A3F66456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E74C300-BF3D-407C-B075-3AEC8CCABF80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694207B-F80C-48C1-95D4-851EEEE6D0F5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2F0F18D-4450-4104-A4C5-D960B4A1B571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4FBC7316-BDD7-429B-8210-6AC7F92BB84D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3A88007-D673-4001-9BC9-61D23CFC79F4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8DA8B809-24B2-4D90-9ED8-0EC1864BB1A6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D83D1A9-8840-46E3-A56E-2CA2BE14E7DE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C2CD6EC0-4F06-472B-95CC-C377820B6039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23C2F5C-B201-44AE-B4CD-5354E822D5AA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A01C539-3230-423D-8CB5-A0C5433E0D2D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BB47ECAD-BFE7-4710-BBB7-917B6C9A65FC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878E39A-661B-49C2-B48C-16FA017BAF30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58A27F7B-B619-410F-95CC-104496B43D8A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7644607-6274-4D03-90D7-71C48FCB5FB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EFC3B667-AEDC-4D5D-8AD4-793D19B406D4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AB3C5DC-4B24-4663-BBB8-DA9B4BE7B3A6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F25D25-8968-4D14-84F0-DCC5050A42B9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D182938-751B-4CBB-8340-A6FD2C5AF3F3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1F386436-DD68-4971-B1BC-54269868F691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97301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97A466B4-16EE-624D-969F-9C5983BA8F4D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1F0BB388-FF23-8A41-894E-605379C0E29B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76C79E60-E686-294E-BF3A-B46EC9EAA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4883705B-B651-F44D-AFFC-E45CD04AD063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431E-932F-2344-87BD-EE52D6989E8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704F-9F24-FE42-9772-3896FEF1675B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63151F-1944-594E-849F-BF838536C41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63B15E59-1DC8-4E69-A2E3-B7C301F85A74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31479838-9F74-4673-9EBF-71D7160465D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853C65E7-B88C-42F7-937F-8DB98A4E9FCC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758B2ACA-719E-43F3-9EC0-0034F9047CBB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35EE226D-3234-43F6-8BB4-C0E371601E92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7EFAE98-DF8E-4D8F-BA4F-2EDBA3177CF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44E1B9-32E5-4A3A-8DDB-8859CA78DEA6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A113CC62-1A03-4F2F-81E6-89FD73E2054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AEAF2AAD-7F92-4C68-919A-54ED1D8E07B7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5FFE12AD-2431-47E8-ABC4-3D8E3A605297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DAA0DE08-F7C2-4423-8FFE-8532F2A5C6FD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FA5E0D5-28AF-4E95-B133-86F7102C0A96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BF7A4DF-5D86-43D9-A178-B2D1212251F4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A7958CCB-2330-4A17-B5C3-425A7C3D83AC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FA7F979D-C5F8-486C-A37D-020E7D3D317B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1770F-AEF4-4C86-94F7-682AFD95DE4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C2E010-BDCD-474A-A6F8-8BD52E984837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8AF4BC2-37FE-4D4C-97FA-D42EB65D0C5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0202D10A-B967-464F-8305-AA6FAA93839B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7E67764-C4B8-41B0-B9C5-C4DF345626E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B81E770-0087-40A5-A3DA-94AC0A24BAF6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A875C85-F2F5-46FB-B389-D71C46A1DE24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4E2D03D-0830-486A-A6A9-F40A5230F968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02E3471-A6EC-4D18-B2A8-8BAE25AF636D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EDACA6D-F2B5-49EA-A2BB-7F2DA522AD37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DC4084CA-5DB9-4485-8430-F048E5F868DC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DD49516-EA60-4B95-B9D2-C3E7F48B2ACE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BCEF951-365A-47DF-B144-DA13EF292D6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83A02B9-87B9-42C6-A66E-EE963D0E48AB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3E1D314-1BE4-4D91-906A-39A39510A06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2CCDC97-7480-43E2-A280-1F630D229367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50BE68B-7749-4F77-9172-E959A95D111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40B095B-7AF5-4ED7-A633-F4D6D308DCA7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C087BE32-DA94-4094-A1C5-68E43E197CD9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10EF90D-D961-4886-A667-E29488DD3B72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CC725CA-1995-466A-BBFB-E4CC489DC9A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679DB96-810C-4354-B51A-032CFEFED6D5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128EA777-D1F4-47DC-93D5-A5DF6BD4D2D2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ED8FD9A-7134-4B69-86C9-5584AABA0DA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136C0CB-E9EC-4D79-ABB6-F229DA9FF52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6B10647-27C1-42C9-9CE4-63BC66AAEC60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694EE07-7C6D-4AEB-9248-C77C0C2DA2C9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4C49C4B4-927F-405D-9CBA-4D5DAADCBB4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CE5A6C1-7169-4363-BD9D-A2503A01234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285BC79-E7CB-41E4-9EAF-48FA16725D9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FE4AEB4-A994-48BE-B61D-C6EC2698C0BE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C18043D-1369-4E6D-9211-DD23A824E7CB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6281DAD0-3872-400E-8D26-FFA07493297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A238B80F-CEC5-4808-AF03-A33208CDDBB0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55691878-494C-4687-9A55-8351DD5972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E0DEE-0961-FA4D-AE94-D10BD920703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C93-6A51-8444-B3D2-C9E226F9D1AE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E0B4-F72B-B14B-80F4-D2A80C606586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90A9-EBB7-B549-8FF0-173CCB23736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0AB9-C7F9-3346-96C4-B6E069B93220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B760-0B2D-2B44-9BF1-1E7B5D491AD7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E2EF-EFA6-274D-BDDB-5B6C0DCA6AA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8392-B0B5-4E48-AD54-85FB63F14CA4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852E-2FC7-4841-9150-A1EFC7605A0A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4CDFEE-E9FA-C647-BEA8-1AC606327D6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4" name="Grafik 4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347D-BAD8-664E-AF25-B93A6305A03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B8E6-BDB5-9947-8710-CF7703CA4D54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DB224C-20EA-4E58-9D0D-992C660EA7C3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F0062D9-7FA7-487E-B266-465DCCF076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E64F3B7C-CB4A-4496-94EF-731E99CC6D26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C8F2FE3-8BCF-4388-9D18-C9FDBDA8F54F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DD335225-272F-4571-BDD9-C4D260933D6A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BF69BAD7-575C-4929-A903-11EBC948B0D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FD20AC73-D10C-4D22-8487-42E7948AA40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8D9FDD-C5F5-4349-BD5F-D81FB30DB6DE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52F4FC91-2197-434F-A278-42EE431CF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70989457-73C8-4AE9-A3E6-E132F67ADA2C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7405C47-1DB1-40F6-BCEC-9BCDAEC7A2FE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8B65F82E-B0A2-4FE8-850E-F63AE810CA1C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A00446A1-9174-4182-AFBD-F7FDFC75E70F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AA100-7EC2-47E0-8C69-9A45AA44476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428011-BD3C-4C8D-8D99-4841E1FFC0AF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6C7C54C-A8CF-4444-AC59-BF72E47F72A6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50FAB8E-78AE-4621-92B7-50E022AAB55A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AC24D8DA-7994-4FBE-8591-E8A44FF7C7F7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C26A421C-A8D4-4825-8BA4-943B818B8D2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022EA131-DFDB-431F-A60F-CCAACE5F847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75B85351-FC36-4EAA-ADAC-848C5CE8CF20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864D1068-6C88-4E64-9CE8-709F2115AB93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060D30F5-7860-4FEF-9867-6D902CB11985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732D5F25-F623-49DA-B9D2-8BB8C68F24F2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0FAC63F4-9971-49C4-8827-AF6DFF0CACC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0C9B571-3A50-4743-B6C5-E6337F5E3872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454C239-1FB1-4A92-A3A3-00D362D352B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B477F16-4711-4484-85E1-93965BBDAEC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0A65D7A-5744-468F-9625-38183D07B3A0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72308F4-C46D-44F7-A941-546D6F81040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410975B0-0BB1-4600-901F-1A785AB533DC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E5E3A78-B400-4E3E-A684-1AF24E10D831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9AC3075-8837-4AFD-8F75-890D1D9AF8CF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F2E48AF-510F-486C-BDB2-4FA9AE217CDF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B965C2F-CC59-477C-B69E-2D51A0CDD5D4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0A9408CB-7970-4EA5-8BBC-971D93830404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9118195-76D4-4209-ACC9-AFF1E0377B21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90E8F94-9DF5-4633-A4DA-1E970ED17EF0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8CB1B880-DFBA-47FA-A0D1-80F79DCEF058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F7BC3AF-0B66-4B22-B031-DE626CAAD637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A283BC6-ABA7-4329-B3E5-10C461ACE247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6ECD116-CF25-4465-B5AC-8F2569E130E0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E34A90A-432D-4C60-9F16-7923D1D0B494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B854A39-3934-43E9-8CFE-175EC7FE0A9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53C14EFA-5A1A-4D01-9767-9A186FA29B5B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69D2715-AF0E-46E1-8FF2-F91E9406D07D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59E0035D-2A73-49EA-B365-FBBEE42775B2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8BFC058-3B6C-4338-940F-5C6277708C38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367B7B8-EDCE-43FA-BEAF-423CF7A90572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E97F9C3D-43CA-488F-B0D8-FAC6A2FE2A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5F62C09-3741-FA47-81E6-1D2CB129D1D3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2E8F5DC4-B3AD-4456-8E9B-9A5F7EF38D3B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3005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EE1C74F-AF2E-BD47-82BF-C60B2FAF1DA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2778AB1-ADFD-8A4C-B634-A1BFD28509A8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A4B336B0-5AA0-4184-BF29-90BF37A678FA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5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E99BA32-3250-DA44-A3A3-C99B3C360211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B9C3F00-7FB2-4003-A482-01BAC23713A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21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89001D-5E94-174C-AF69-6CF1160AA43D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5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1.xml"/><Relationship Id="rId11" Type="http://schemas.openxmlformats.org/officeDocument/2006/relationships/image" Target="../media/image25.png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2.xml"/><Relationship Id="rId11" Type="http://schemas.openxmlformats.org/officeDocument/2006/relationships/image" Target="../media/image30.png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>
          <a:xfrm>
            <a:off x="0" y="1753681"/>
            <a:ext cx="12192000" cy="5229226"/>
          </a:xfr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E21F9E-BD7F-9E4E-B4E9-A439D7D0701D}"/>
              </a:ext>
            </a:extLst>
          </p:cNvPr>
          <p:cNvSpPr txBox="1"/>
          <p:nvPr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E3EF9C-5A29-7042-B0B3-B4ECB36179A6}"/>
              </a:ext>
            </a:extLst>
          </p:cNvPr>
          <p:cNvGrpSpPr/>
          <p:nvPr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BF05818-C2E5-F941-9F69-54BB59A4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881766C-D97F-6642-AA43-79B57BDC4E57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CAF8A78-E2C8-91B6-8559-F05D0005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63" y="1628775"/>
            <a:ext cx="10953576" cy="1320361"/>
          </a:xfrm>
        </p:spPr>
        <p:txBody>
          <a:bodyPr/>
          <a:lstStyle/>
          <a:p>
            <a:pPr algn="ctr"/>
            <a:r>
              <a:rPr lang="en-GB" sz="4000" i="0" dirty="0">
                <a:effectLst/>
                <a:latin typeface="Calibri" panose="020F0502020204030204" pitchFamily="34" charset="0"/>
              </a:rPr>
              <a:t>Master Thesis</a:t>
            </a:r>
            <a:r>
              <a:rPr lang="en-GB" sz="4000" b="0" i="0" dirty="0">
                <a:effectLst/>
                <a:latin typeface="Calibri" panose="020F0502020204030204" pitchFamily="34" charset="0"/>
              </a:rPr>
              <a:t>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RSS-based localization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distributed spectrum sensing for 5G networks</a:t>
            </a:r>
            <a:endParaRPr lang="en-DE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2DBB4-36C6-4F13-2416-F53B6D2D53F0}"/>
              </a:ext>
            </a:extLst>
          </p:cNvPr>
          <p:cNvSpPr txBox="1"/>
          <p:nvPr/>
        </p:nvSpPr>
        <p:spPr>
          <a:xfrm>
            <a:off x="8426056" y="4047302"/>
            <a:ext cx="138018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Begin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1.0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 23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u="sng" dirty="0">
                <a:latin typeface="Arial"/>
              </a:rPr>
              <a:t>End</a:t>
            </a:r>
            <a:r>
              <a:rPr lang="en-DE" sz="1600" dirty="0">
                <a:latin typeface="Arial"/>
              </a:rPr>
              <a:t>: </a:t>
            </a:r>
            <a:r>
              <a:rPr lang="en-US" sz="1600" dirty="0">
                <a:latin typeface="Arial"/>
              </a:rPr>
              <a:t>2</a:t>
            </a:r>
            <a:r>
              <a:rPr lang="en-DE" sz="1600" dirty="0">
                <a:latin typeface="Arial"/>
              </a:rPr>
              <a:t>.</a:t>
            </a:r>
            <a:r>
              <a:rPr lang="en-US" sz="1600" dirty="0">
                <a:latin typeface="Arial"/>
              </a:rPr>
              <a:t>10</a:t>
            </a:r>
            <a:r>
              <a:rPr lang="en-DE" sz="1600" dirty="0">
                <a:latin typeface="Arial"/>
              </a:rPr>
              <a:t>.23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98115-ADF9-35A8-5B18-F9FCB92F5293}"/>
              </a:ext>
            </a:extLst>
          </p:cNvPr>
          <p:cNvSpPr txBox="1"/>
          <p:nvPr/>
        </p:nvSpPr>
        <p:spPr>
          <a:xfrm>
            <a:off x="5600601" y="3797490"/>
            <a:ext cx="119744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Supervisors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FC611-B338-AF22-36B4-3C735A8D8391}"/>
              </a:ext>
            </a:extLst>
          </p:cNvPr>
          <p:cNvSpPr txBox="1"/>
          <p:nvPr/>
        </p:nvSpPr>
        <p:spPr>
          <a:xfrm>
            <a:off x="5553318" y="4222524"/>
            <a:ext cx="1469954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Victor Shatov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Norman Franchi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C6833-19AC-E77B-AE91-B1B6A7AB4FA9}"/>
              </a:ext>
            </a:extLst>
          </p:cNvPr>
          <p:cNvSpPr txBox="1"/>
          <p:nvPr/>
        </p:nvSpPr>
        <p:spPr>
          <a:xfrm>
            <a:off x="2731564" y="4031022"/>
            <a:ext cx="160460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Student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Aakarsh Dhariwal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EFE90-E4B2-F168-18AC-22BE99D4EB4D}"/>
              </a:ext>
            </a:extLst>
          </p:cNvPr>
          <p:cNvSpPr txBox="1"/>
          <p:nvPr/>
        </p:nvSpPr>
        <p:spPr>
          <a:xfrm>
            <a:off x="5087639" y="3021278"/>
            <a:ext cx="102592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u="sng" dirty="0">
                <a:latin typeface="Arial"/>
              </a:rPr>
              <a:t>19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.2023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E2B8F-4706-CEDE-4630-07888E0F8AAE}"/>
              </a:ext>
            </a:extLst>
          </p:cNvPr>
          <p:cNvSpPr txBox="1"/>
          <p:nvPr/>
        </p:nvSpPr>
        <p:spPr>
          <a:xfrm>
            <a:off x="7575176" y="475129"/>
            <a:ext cx="6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104" y="1504413"/>
            <a:ext cx="11157745" cy="4569619"/>
          </a:xfrm>
        </p:spPr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E49D56-055A-B4F6-CE05-30E20D02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10" y="1503476"/>
            <a:ext cx="7476900" cy="38056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AEA5EB8-226F-6040-DFD5-A410B7555E93}"/>
              </a:ext>
            </a:extLst>
          </p:cNvPr>
          <p:cNvSpPr txBox="1"/>
          <p:nvPr/>
        </p:nvSpPr>
        <p:spPr>
          <a:xfrm>
            <a:off x="363863" y="5636501"/>
            <a:ext cx="665889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Dedicated sensor network.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Received signal strength (RSS) measurements captured from sensors as a means to perform localization.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C19C6C5-BA0D-90AE-4736-2014F6971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7" y="1888319"/>
            <a:ext cx="7726166" cy="323575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EB3F7A2-48FD-AEE2-904B-96CE83427B09}"/>
              </a:ext>
            </a:extLst>
          </p:cNvPr>
          <p:cNvSpPr txBox="1"/>
          <p:nvPr/>
        </p:nvSpPr>
        <p:spPr>
          <a:xfrm>
            <a:off x="657546" y="4795344"/>
            <a:ext cx="462874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1: Exemplary scenario for localization [1].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31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 as a promising technology for localization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6E8B1-8B11-8F2F-668D-700809BFD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840" y="1530239"/>
            <a:ext cx="6903448" cy="475340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287F0C4-0288-72A2-0800-13E053B74290}"/>
              </a:ext>
            </a:extLst>
          </p:cNvPr>
          <p:cNvSpPr/>
          <p:nvPr/>
        </p:nvSpPr>
        <p:spPr>
          <a:xfrm>
            <a:off x="4750086" y="3750067"/>
            <a:ext cx="2760324" cy="19371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F05A8-9B8B-0390-ECBA-7498EB356B65}"/>
              </a:ext>
            </a:extLst>
          </p:cNvPr>
          <p:cNvSpPr txBox="1"/>
          <p:nvPr/>
        </p:nvSpPr>
        <p:spPr>
          <a:xfrm>
            <a:off x="2875146" y="6182722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Motivation for using RSS measurements for localization [6].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648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environment map (REM) [1],[2]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12A5E-EE98-F84C-B857-90EEA08046FE}"/>
              </a:ext>
            </a:extLst>
          </p:cNvPr>
          <p:cNvSpPr txBox="1"/>
          <p:nvPr/>
        </p:nvSpPr>
        <p:spPr>
          <a:xfrm>
            <a:off x="2330341" y="5973813"/>
            <a:ext cx="644170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Scenario for localization using dedicated sensor network [1], [2] and REM construction.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36EBEC-2E36-41BB-A026-A12289C21204}"/>
              </a:ext>
            </a:extLst>
          </p:cNvPr>
          <p:cNvSpPr/>
          <p:nvPr/>
        </p:nvSpPr>
        <p:spPr>
          <a:xfrm>
            <a:off x="9254844" y="5369271"/>
            <a:ext cx="1789875" cy="799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766760-6781-CF20-704E-A96C38367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345" y="1426643"/>
            <a:ext cx="7615799" cy="440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2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FF7A0-DFCC-D2E4-A0B4-112A0E1E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EAD3C-3B96-25C8-8B29-A2D45D84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CD8A5-AE7F-2DC2-1E0B-BFC5A4CA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42ED59-C3F5-E1CA-B9BC-632F2C0C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applications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AF7F7-F178-4AD8-1403-2A3046955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28" y="1270631"/>
            <a:ext cx="8917323" cy="4923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5ADEED-D29E-CE48-46FF-54D87A2BED2E}"/>
              </a:ext>
            </a:extLst>
          </p:cNvPr>
          <p:cNvSpPr txBox="1"/>
          <p:nvPr/>
        </p:nvSpPr>
        <p:spPr>
          <a:xfrm>
            <a:off x="3969550" y="6267328"/>
            <a:ext cx="5670129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REM applications and use cases [8].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42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E9396-D0AC-04EA-63C0-02E177FC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E81A-1DB1-BE86-F715-741BF1B9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437E-F531-8E57-0E38-07C10E4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CBEA-A748-2678-28E3-BDA6B3719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Comparing and evaluating the localization performance of MSE and </a:t>
            </a:r>
            <a:r>
              <a:rPr lang="en-US" sz="1800" dirty="0" err="1"/>
              <a:t>LIvE</a:t>
            </a:r>
            <a:r>
              <a:rPr lang="en-US" sz="1800" dirty="0"/>
              <a:t> methods.</a:t>
            </a:r>
          </a:p>
          <a:p>
            <a:pPr marL="52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Using OFDM as a transmit signal and evaluating performance of MSE method.</a:t>
            </a:r>
          </a:p>
          <a:p>
            <a:pPr marL="52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Using correlated shadowing and evaluating the localization error using varying standard deviation of shadowing.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 Constructing radio environment map (REM) from results of  MSE localization method.</a:t>
            </a:r>
          </a:p>
          <a:p>
            <a:pPr>
              <a:lnSpc>
                <a:spcPct val="200000"/>
              </a:lnSpc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6D1CC7-184A-9482-1B74-8E4F87B8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thesis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98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overall process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394431" y="3217916"/>
            <a:ext cx="1983208" cy="1346636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B7DD3-B68B-828C-70FD-E4BBC11E542A}"/>
              </a:ext>
            </a:extLst>
          </p:cNvPr>
          <p:cNvSpPr txBox="1"/>
          <p:nvPr/>
        </p:nvSpPr>
        <p:spPr>
          <a:xfrm>
            <a:off x="3709740" y="627057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5: Methodology and flow diagram.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11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31" y="306921"/>
            <a:ext cx="6844385" cy="332399"/>
          </a:xfrm>
        </p:spPr>
        <p:txBody>
          <a:bodyPr/>
          <a:lstStyle/>
          <a:p>
            <a:r>
              <a:rPr lang="en-US" dirty="0"/>
              <a:t>Dedicated sensor network 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156891"/>
            <a:ext cx="2070878" cy="1482289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321AC1E-E6EB-68B8-7A94-F093A8DD4072}"/>
              </a:ext>
            </a:extLst>
          </p:cNvPr>
          <p:cNvSpPr/>
          <p:nvPr/>
        </p:nvSpPr>
        <p:spPr>
          <a:xfrm>
            <a:off x="2419824" y="3563952"/>
            <a:ext cx="702644" cy="2310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4F4E4D4-B833-C7D2-83C3-06002AA85A04}"/>
              </a:ext>
            </a:extLst>
          </p:cNvPr>
          <p:cNvSpPr/>
          <p:nvPr/>
        </p:nvSpPr>
        <p:spPr>
          <a:xfrm>
            <a:off x="2243133" y="4272542"/>
            <a:ext cx="779647" cy="2310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9" name="Canvas 1">
            <a:extLst>
              <a:ext uri="{FF2B5EF4-FFF2-40B4-BE49-F238E27FC236}">
                <a16:creationId xmlns:a16="http://schemas.microsoft.com/office/drawing/2014/main" id="{28597D75-FBE2-7B0E-378E-72CA2A82F4EC}"/>
              </a:ext>
            </a:extLst>
          </p:cNvPr>
          <p:cNvGrpSpPr/>
          <p:nvPr/>
        </p:nvGrpSpPr>
        <p:grpSpPr>
          <a:xfrm>
            <a:off x="3348297" y="1379156"/>
            <a:ext cx="7934226" cy="4546920"/>
            <a:chOff x="172883" y="-140640"/>
            <a:chExt cx="5025666" cy="322559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DD5C0C-2A8B-0860-B76B-C50179B02458}"/>
                </a:ext>
              </a:extLst>
            </p:cNvPr>
            <p:cNvSpPr/>
            <p:nvPr/>
          </p:nvSpPr>
          <p:spPr>
            <a:xfrm>
              <a:off x="221658" y="-140640"/>
              <a:ext cx="4976891" cy="2834631"/>
            </a:xfrm>
            <a:prstGeom prst="rect">
              <a:avLst/>
            </a:prstGeom>
            <a:solidFill>
              <a:prstClr val="whit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Date Placeholder 1">
              <a:extLst>
                <a:ext uri="{FF2B5EF4-FFF2-40B4-BE49-F238E27FC236}">
                  <a16:creationId xmlns:a16="http://schemas.microsoft.com/office/drawing/2014/main" id="{20C0F3C0-195E-CA4E-C3DC-3AB3102F3C05}"/>
                </a:ext>
              </a:extLst>
            </p:cNvPr>
            <p:cNvSpPr>
              <a:spLocks noGrp="1"/>
            </p:cNvSpPr>
            <p:nvPr/>
          </p:nvSpPr>
          <p:spPr>
            <a:xfrm>
              <a:off x="3920036" y="2116670"/>
              <a:ext cx="669925" cy="23558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de-DE" sz="800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9. Oktober 2023</a:t>
              </a:r>
              <a:endParaRPr lang="en-IN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lide Number Placeholder 3">
              <a:extLst>
                <a:ext uri="{FF2B5EF4-FFF2-40B4-BE49-F238E27FC236}">
                  <a16:creationId xmlns:a16="http://schemas.microsoft.com/office/drawing/2014/main" id="{D06A8996-4E45-D5D2-D089-A5053B55979E}"/>
                </a:ext>
              </a:extLst>
            </p:cNvPr>
            <p:cNvSpPr>
              <a:spLocks noGrp="1"/>
            </p:cNvSpPr>
            <p:nvPr/>
          </p:nvSpPr>
          <p:spPr>
            <a:xfrm>
              <a:off x="4508110" y="2116127"/>
              <a:ext cx="52070" cy="23558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de-DE" sz="800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</a:t>
              </a:r>
              <a:endParaRPr lang="en-IN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Content Placeholder 7">
              <a:extLst>
                <a:ext uri="{FF2B5EF4-FFF2-40B4-BE49-F238E27FC236}">
                  <a16:creationId xmlns:a16="http://schemas.microsoft.com/office/drawing/2014/main" id="{5140EEB5-C311-9989-AC9D-5F4CB0896219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90" y="120918"/>
              <a:ext cx="1803885" cy="135342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FA06114-96E2-9C72-3D23-9C7F000B9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279" y="40193"/>
              <a:ext cx="1986658" cy="149056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EF56846-50DE-3C82-0AD4-ABBE520D3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883" y="1489282"/>
              <a:ext cx="2126759" cy="159567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563945A-E170-A1AB-A76C-E730AC71B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6549" y="1549595"/>
              <a:ext cx="2040117" cy="153067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4ED485-FF44-3C31-483E-2C77ABD1F5C7}"/>
              </a:ext>
            </a:extLst>
          </p:cNvPr>
          <p:cNvSpPr txBox="1"/>
          <p:nvPr/>
        </p:nvSpPr>
        <p:spPr>
          <a:xfrm>
            <a:off x="3850100" y="6032809"/>
            <a:ext cx="7007622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6: Placement of  dedicated sensor network 4, 9, 25 and 49 sensors  with true transmitter position [18 m, 37 m] in a grid of [100 m, 100 m] [1].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1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 and parameter setting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7D669-7E7A-68D5-C44B-ECDF0742C0AC}"/>
              </a:ext>
            </a:extLst>
          </p:cNvPr>
          <p:cNvSpPr txBox="1"/>
          <p:nvPr/>
        </p:nvSpPr>
        <p:spPr>
          <a:xfrm>
            <a:off x="2396833" y="3090673"/>
            <a:ext cx="2096238" cy="1624911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C6B4A-2CD7-8AA4-E1DF-51AE2D90FFCB}"/>
              </a:ext>
            </a:extLst>
          </p:cNvPr>
          <p:cNvSpPr txBox="1"/>
          <p:nvPr/>
        </p:nvSpPr>
        <p:spPr>
          <a:xfrm>
            <a:off x="3552126" y="624930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7: System model and parameters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setting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99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DDB-B9D7-9A91-4DD9-234DE03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435BF-F829-CC3A-44E5-EAAB42DE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A716-2560-37C3-B61E-E7D865E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8317" y="1631156"/>
                <a:ext cx="11571014" cy="4569619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+mj-lt"/>
                  </a:rPr>
                  <a:t>Considering a simple path loss model the RSS measurement at j-</a:t>
                </a:r>
                <a:r>
                  <a:rPr lang="en-US" sz="1800" dirty="0" err="1">
                    <a:latin typeface="+mj-lt"/>
                  </a:rPr>
                  <a:t>th</a:t>
                </a:r>
                <a:r>
                  <a:rPr lang="en-US" sz="1800" dirty="0">
                    <a:latin typeface="+mj-lt"/>
                  </a:rPr>
                  <a:t> node is given as [2]:</a:t>
                </a:r>
              </a:p>
              <a:p>
                <a:endParaRPr lang="en-US" sz="1800" dirty="0">
                  <a:latin typeface="+mj-lt"/>
                </a:endParaRPr>
              </a:p>
              <a:p>
                <a:endParaRPr lang="en-US" sz="1800" dirty="0">
                  <a:latin typeface="+mj-lt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IN" sz="18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]− 10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IN" sz="180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18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IN" sz="1800" dirty="0">
                    <a:latin typeface="+mj-lt"/>
                  </a:rPr>
                  <a:t>           (1)</a:t>
                </a:r>
              </a:p>
              <a:p>
                <a:endParaRPr lang="en-US" sz="1800" b="0" dirty="0">
                  <a:latin typeface="+mj-lt"/>
                </a:endParaRPr>
              </a:p>
              <a:p>
                <a:endParaRPr lang="en-US" sz="18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+mj-lt"/>
                  </a:rPr>
                  <a:t>d in the equation (1) is given by: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                                        </m:t>
                    </m:r>
                    <m:r>
                      <a:rPr lang="en-IN" sz="1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IN" sz="1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IN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8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8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8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8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8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18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IN" sz="18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8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8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8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en-IN" sz="1800" kern="100" dirty="0">
                    <a:effectLst/>
                    <a:latin typeface="+mj-lt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(2)</a:t>
                </a:r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8317" y="1631156"/>
                <a:ext cx="11571014" cy="4569619"/>
              </a:xfrm>
              <a:blipFill>
                <a:blip r:embed="rId2"/>
                <a:stretch>
                  <a:fillRect l="-1106" t="-1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5350A4B-019E-EFEF-2A54-234D0C72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 [1],[2]		</a:t>
            </a:r>
            <a:br>
              <a:rPr lang="en-US" dirty="0"/>
            </a:br>
            <a:r>
              <a:rPr lang="en-US" dirty="0"/>
              <a:t>	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/>
              <p:nvPr/>
            </p:nvSpPr>
            <p:spPr>
              <a:xfrm>
                <a:off x="6179419" y="2088682"/>
                <a:ext cx="1636295" cy="9014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I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path loss exponent..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200" dirty="0">
                    <a:solidFill>
                      <a:prstClr val="black"/>
                    </a:solidFill>
                    <a:latin typeface="+mj-lt"/>
                  </a:rPr>
                  <a:t>: reference distance.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419" y="2088682"/>
                <a:ext cx="1636295" cy="901465"/>
              </a:xfrm>
              <a:prstGeom prst="rect">
                <a:avLst/>
              </a:prstGeom>
              <a:blipFill>
                <a:blip r:embed="rId3"/>
                <a:stretch>
                  <a:fillRect l="-3731" t="-5405" r="-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CB17F-F977-5FF9-F821-A9326AE966D2}"/>
                  </a:ext>
                </a:extLst>
              </p:cNvPr>
              <p:cNvSpPr txBox="1"/>
              <p:nvPr/>
            </p:nvSpPr>
            <p:spPr>
              <a:xfrm>
                <a:off x="4803007" y="2164504"/>
                <a:ext cx="1032714" cy="3905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200" dirty="0">
                    <a:solidFill>
                      <a:prstClr val="black"/>
                    </a:solidFill>
                  </a:rPr>
                  <a:t> reference path loss.</a:t>
                </a:r>
                <a:endParaRPr lang="en-IN" sz="1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CB17F-F977-5FF9-F821-A9326AE96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007" y="2164504"/>
                <a:ext cx="1032714" cy="390556"/>
              </a:xfrm>
              <a:prstGeom prst="rect">
                <a:avLst/>
              </a:prstGeom>
              <a:blipFill>
                <a:blip r:embed="rId4"/>
                <a:stretch>
                  <a:fillRect l="-9467" t="-12500" r="-7692" b="-2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/>
              <p:nvPr/>
            </p:nvSpPr>
            <p:spPr>
              <a:xfrm>
                <a:off x="2319071" y="2148634"/>
                <a:ext cx="1501541" cy="392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𝑅𝑥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200" i="0">
                          <a:latin typeface="Cambria Math" panose="02040503050406030204" pitchFamily="18" charset="0"/>
                        </a:rPr>
                        <m:t>eceived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0">
                          <a:latin typeface="Cambria Math" panose="02040503050406030204" pitchFamily="18" charset="0"/>
                        </a:rPr>
                        <m:t>signal</m:t>
                      </m:r>
                      <m:r>
                        <a:rPr lang="en-US" sz="12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i="0">
                          <a:latin typeface="Cambria Math" panose="02040503050406030204" pitchFamily="18" charset="0"/>
                        </a:rPr>
                        <m:t>strength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0" lang="en-IN" sz="1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071" y="2148634"/>
                <a:ext cx="1501541" cy="392352"/>
              </a:xfrm>
              <a:prstGeom prst="rect">
                <a:avLst/>
              </a:prstGeom>
              <a:blipFill>
                <a:blip r:embed="rId5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/>
              <p:nvPr/>
            </p:nvSpPr>
            <p:spPr>
              <a:xfrm>
                <a:off x="4081112" y="3621771"/>
                <a:ext cx="1443790" cy="187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kumimoji="0" lang="en-I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: transmit power.</a:t>
                </a:r>
                <a:r>
                  <a:rPr kumimoji="0" lang="en-IN" sz="1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112" y="3621771"/>
                <a:ext cx="1443790" cy="187295"/>
              </a:xfrm>
              <a:prstGeom prst="rect">
                <a:avLst/>
              </a:prstGeom>
              <a:blipFill>
                <a:blip r:embed="rId6"/>
                <a:stretch>
                  <a:fillRect l="-3797" t="-25806" r="-1688" b="-483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D9063-C75B-637B-2149-9E4E2C0F77FE}"/>
                  </a:ext>
                </a:extLst>
              </p:cNvPr>
              <p:cNvSpPr txBox="1"/>
              <p:nvPr/>
            </p:nvSpPr>
            <p:spPr>
              <a:xfrm>
                <a:off x="7782334" y="3583452"/>
                <a:ext cx="1636295" cy="1874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2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: Shadowing 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D9063-C75B-637B-2149-9E4E2C0F7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34" y="3583452"/>
                <a:ext cx="1636295" cy="187424"/>
              </a:xfrm>
              <a:prstGeom prst="rect">
                <a:avLst/>
              </a:prstGeom>
              <a:blipFill>
                <a:blip r:embed="rId7"/>
                <a:stretch>
                  <a:fillRect l="-3358" t="-25806" b="-451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D16CF4-C038-7C5E-5964-6F1281ABCF38}"/>
              </a:ext>
            </a:extLst>
          </p:cNvPr>
          <p:cNvCxnSpPr/>
          <p:nvPr/>
        </p:nvCxnSpPr>
        <p:spPr>
          <a:xfrm flipH="1" flipV="1">
            <a:off x="2825393" y="2332234"/>
            <a:ext cx="195209" cy="811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D64651-774B-327B-0742-718A5627E029}"/>
              </a:ext>
            </a:extLst>
          </p:cNvPr>
          <p:cNvCxnSpPr>
            <a:cxnSpLocks/>
          </p:cNvCxnSpPr>
          <p:nvPr/>
        </p:nvCxnSpPr>
        <p:spPr>
          <a:xfrm flipH="1" flipV="1">
            <a:off x="5075434" y="2555060"/>
            <a:ext cx="303975" cy="588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80508D-A2D9-F171-D369-EC4B49B023BD}"/>
              </a:ext>
            </a:extLst>
          </p:cNvPr>
          <p:cNvCxnSpPr/>
          <p:nvPr/>
        </p:nvCxnSpPr>
        <p:spPr>
          <a:xfrm>
            <a:off x="4202130" y="3267190"/>
            <a:ext cx="207537" cy="4099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162153-5ED6-E3F9-7066-D5124C4DC67E}"/>
              </a:ext>
            </a:extLst>
          </p:cNvPr>
          <p:cNvCxnSpPr/>
          <p:nvPr/>
        </p:nvCxnSpPr>
        <p:spPr>
          <a:xfrm flipH="1" flipV="1">
            <a:off x="6635731" y="2555060"/>
            <a:ext cx="186309" cy="609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992AC9-2567-6E2D-5D51-F249F7C62377}"/>
              </a:ext>
            </a:extLst>
          </p:cNvPr>
          <p:cNvCxnSpPr/>
          <p:nvPr/>
        </p:nvCxnSpPr>
        <p:spPr>
          <a:xfrm>
            <a:off x="8013843" y="3267190"/>
            <a:ext cx="0" cy="354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38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 parameters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2406313" y="3058670"/>
            <a:ext cx="2146941" cy="1616554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2DCFA-48C5-085C-C0A7-7CBA6D0D05A1}"/>
                  </a:ext>
                </a:extLst>
              </p:cNvPr>
              <p:cNvSpPr txBox="1"/>
              <p:nvPr/>
            </p:nvSpPr>
            <p:spPr>
              <a:xfrm>
                <a:off x="6166324" y="2619044"/>
                <a:ext cx="4675823" cy="29076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IN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path loss exponent 3.5 [1].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prstClr val="black"/>
                    </a:solidFill>
                    <a:latin typeface="+mj-lt"/>
                  </a:rPr>
                  <a:t>: reference distance 2 m.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kumimoji="0" lang="en-IN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: 0.1</a:t>
                </a:r>
                <a:r>
                  <a:rPr kumimoji="0" lang="en-IN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Watts [1].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prstClr val="black"/>
                    </a:solidFill>
                    <a:latin typeface="+mj-lt"/>
                  </a:rPr>
                  <a:t>(shadowing standard deviation ) 8 dB [1]. </a:t>
                </a:r>
                <a:endParaRPr kumimoji="0" lang="en-IN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IN" baseline="0" dirty="0">
                    <a:solidFill>
                      <a:prstClr val="black"/>
                    </a:solidFill>
                    <a:latin typeface="+mj-lt"/>
                  </a:rPr>
                  <a:t>Frequency: 3.7 GHz [6]. 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IN" baseline="0" dirty="0">
                    <a:solidFill>
                      <a:prstClr val="black"/>
                    </a:solidFill>
                    <a:latin typeface="+mj-lt"/>
                  </a:rPr>
                  <a:t>True transmitter position [18 m, 37 m]. </a:t>
                </a:r>
              </a:p>
              <a:p>
                <a:pPr marR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tabLst/>
                </a:pP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2DCFA-48C5-085C-C0A7-7CBA6D0D0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24" y="2619044"/>
                <a:ext cx="4675823" cy="2907655"/>
              </a:xfrm>
              <a:prstGeom prst="rect">
                <a:avLst/>
              </a:prstGeom>
              <a:blipFill>
                <a:blip r:embed="rId2"/>
                <a:stretch>
                  <a:fillRect l="-2868" t="-2516" r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EC53FAB8-00F3-7FF1-25C6-6DE30B86FCA7}"/>
              </a:ext>
            </a:extLst>
          </p:cNvPr>
          <p:cNvSpPr/>
          <p:nvPr/>
        </p:nvSpPr>
        <p:spPr>
          <a:xfrm>
            <a:off x="4990407" y="3429000"/>
            <a:ext cx="440000" cy="19916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FC2C24-4DFF-3933-494D-37CA9326F48A}"/>
              </a:ext>
            </a:extLst>
          </p:cNvPr>
          <p:cNvSpPr/>
          <p:nvPr/>
        </p:nvSpPr>
        <p:spPr>
          <a:xfrm>
            <a:off x="4985259" y="3989865"/>
            <a:ext cx="440000" cy="19916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B7D26E0-58F6-03EC-819C-31E2D3E11AB8}"/>
              </a:ext>
            </a:extLst>
          </p:cNvPr>
          <p:cNvSpPr/>
          <p:nvPr/>
        </p:nvSpPr>
        <p:spPr>
          <a:xfrm>
            <a:off x="4997460" y="3697113"/>
            <a:ext cx="440000" cy="20928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327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 measurement collection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082" y="3751304"/>
            <a:ext cx="500515" cy="24583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E5E7B-BC42-399E-DC14-7C65055EB356}"/>
              </a:ext>
            </a:extLst>
          </p:cNvPr>
          <p:cNvSpPr txBox="1"/>
          <p:nvPr/>
        </p:nvSpPr>
        <p:spPr>
          <a:xfrm>
            <a:off x="4925263" y="3272714"/>
            <a:ext cx="1988547" cy="1349243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20957-D305-596E-ECD6-88B5353B12A5}"/>
              </a:ext>
            </a:extLst>
          </p:cNvPr>
          <p:cNvSpPr txBox="1"/>
          <p:nvPr/>
        </p:nvSpPr>
        <p:spPr>
          <a:xfrm>
            <a:off x="4263017" y="6276294"/>
            <a:ext cx="5469731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8: RSS measurements calculation.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44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9C952-D3E9-7E97-5FDC-9E167232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21517-C845-443D-EC4A-E158FCC7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86E05-E451-6115-3F3D-4E2DCEF9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8723F6-C43E-0384-E2F2-4DF49CCD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of RSS measurements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28F6A-FA40-A96D-DF1C-5B92CCF48A50}"/>
              </a:ext>
            </a:extLst>
          </p:cNvPr>
          <p:cNvSpPr txBox="1"/>
          <p:nvPr/>
        </p:nvSpPr>
        <p:spPr>
          <a:xfrm>
            <a:off x="2565858" y="6239568"/>
            <a:ext cx="6937738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9: Calculating RSS measurements and performing localization [5].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352C0-82A3-EC46-71EE-D46DCCBC0209}"/>
              </a:ext>
            </a:extLst>
          </p:cNvPr>
          <p:cNvSpPr/>
          <p:nvPr/>
        </p:nvSpPr>
        <p:spPr>
          <a:xfrm>
            <a:off x="9086248" y="2464067"/>
            <a:ext cx="683394" cy="625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84138-1724-2D88-B8EF-16A6BD29E34B}"/>
              </a:ext>
            </a:extLst>
          </p:cNvPr>
          <p:cNvSpPr/>
          <p:nvPr/>
        </p:nvSpPr>
        <p:spPr>
          <a:xfrm>
            <a:off x="9256879" y="5195864"/>
            <a:ext cx="683394" cy="625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5D515-2C4E-609A-4941-2F3452B8B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56" y="1514944"/>
            <a:ext cx="6844385" cy="465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6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 method for localization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C2FD2-6922-945A-DD80-496E5DC1E2C9}"/>
              </a:ext>
            </a:extLst>
          </p:cNvPr>
          <p:cNvSpPr txBox="1"/>
          <p:nvPr/>
        </p:nvSpPr>
        <p:spPr>
          <a:xfrm>
            <a:off x="7396902" y="3185125"/>
            <a:ext cx="1648858" cy="1438330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F8CD8F9-FB85-4801-5C84-A57DF0F7315F}"/>
              </a:ext>
            </a:extLst>
          </p:cNvPr>
          <p:cNvSpPr/>
          <p:nvPr/>
        </p:nvSpPr>
        <p:spPr>
          <a:xfrm>
            <a:off x="6887677" y="3743444"/>
            <a:ext cx="580658" cy="2607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C8780-A1D6-121D-0C91-5B1358D29259}"/>
              </a:ext>
            </a:extLst>
          </p:cNvPr>
          <p:cNvSpPr txBox="1"/>
          <p:nvPr/>
        </p:nvSpPr>
        <p:spPr>
          <a:xfrm>
            <a:off x="9225416" y="3058670"/>
            <a:ext cx="990596" cy="685362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717D4-CB73-25A9-B636-530A410CAF76}"/>
              </a:ext>
            </a:extLst>
          </p:cNvPr>
          <p:cNvSpPr txBox="1"/>
          <p:nvPr/>
        </p:nvSpPr>
        <p:spPr>
          <a:xfrm>
            <a:off x="3552126" y="624930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10: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RSS-based localization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54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652C-852D-0FC6-1D61-48F21741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AEE28-5F38-684B-FE95-08D0EA3C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BE8B-FE8D-F324-F246-1B35F14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10723330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10723330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2A68AFC0-7221-45E0-E856-EB542F35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MSE-based localization[1]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/>
              <p:nvPr/>
            </p:nvSpPr>
            <p:spPr>
              <a:xfrm flipH="1">
                <a:off x="1828799" y="4899258"/>
                <a:ext cx="1934678" cy="2405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𝑎𝑟𝑔𝑚𝑖𝑛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sz="1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28799" y="4899258"/>
                <a:ext cx="1934678" cy="240515"/>
              </a:xfrm>
              <a:prstGeom prst="rect">
                <a:avLst/>
              </a:prstGeom>
              <a:blipFill>
                <a:blip r:embed="rId11"/>
                <a:stretch>
                  <a:fillRect l="-631" t="-20513" b="-28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731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3AAA42-0A1B-BA92-FBBA-A2E9395E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B61F1-5064-6B94-B8F2-5FB30C46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1372-D414-E3F2-6D0C-F1A2CBAA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12C032-6ECE-AA93-832F-680CD99F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4FC920-72EF-3CCA-8C00-3A9CAC9CA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471"/>
            <a:ext cx="6321896" cy="47432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24848-6ED2-B0AA-37D7-68AF9B46C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8471"/>
            <a:ext cx="6109239" cy="4671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0397F-C871-6CB1-FC92-F8383DBB12ED}"/>
              </a:ext>
            </a:extLst>
          </p:cNvPr>
          <p:cNvSpPr txBox="1"/>
          <p:nvPr/>
        </p:nvSpPr>
        <p:spPr>
          <a:xfrm>
            <a:off x="828529" y="6177316"/>
            <a:ext cx="4298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11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error for MSE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BC5F5-5442-8DFD-BE18-DA3FECCE7E1C}"/>
              </a:ext>
            </a:extLst>
          </p:cNvPr>
          <p:cNvSpPr txBox="1"/>
          <p:nvPr/>
        </p:nvSpPr>
        <p:spPr>
          <a:xfrm>
            <a:off x="6804552" y="6162724"/>
            <a:ext cx="523676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noProof="0" dirty="0">
                <a:solidFill>
                  <a:prstClr val="black"/>
                </a:solidFill>
                <a:latin typeface="Arial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error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 36 sensors.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49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LIvE</a:t>
            </a:r>
            <a:r>
              <a:rPr lang="en-US" dirty="0"/>
              <a:t> method for localization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C2FD2-6922-945A-DD80-496E5DC1E2C9}"/>
              </a:ext>
            </a:extLst>
          </p:cNvPr>
          <p:cNvSpPr txBox="1"/>
          <p:nvPr/>
        </p:nvSpPr>
        <p:spPr>
          <a:xfrm>
            <a:off x="7373084" y="3185618"/>
            <a:ext cx="1707775" cy="1438330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717D4-CB73-25A9-B636-530A410CAF76}"/>
              </a:ext>
            </a:extLst>
          </p:cNvPr>
          <p:cNvSpPr txBox="1"/>
          <p:nvPr/>
        </p:nvSpPr>
        <p:spPr>
          <a:xfrm>
            <a:off x="3552126" y="624930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 for localization. 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89168-EB86-FBD7-09D3-C741FC3DDA9F}"/>
              </a:ext>
            </a:extLst>
          </p:cNvPr>
          <p:cNvSpPr txBox="1"/>
          <p:nvPr/>
        </p:nvSpPr>
        <p:spPr>
          <a:xfrm>
            <a:off x="9235601" y="4129274"/>
            <a:ext cx="990596" cy="685362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66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652C-852D-0FC6-1D61-48F21741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AEE28-5F38-684B-FE95-08D0EA3C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BE8B-FE8D-F324-F246-1B35F14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8470141"/>
                  </p:ext>
                </p:extLst>
              </p:nvPr>
            </p:nvGraphicFramePr>
            <p:xfrm>
              <a:off x="559413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8470141"/>
                  </p:ext>
                </p:extLst>
              </p:nvPr>
            </p:nvGraphicFramePr>
            <p:xfrm>
              <a:off x="559413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2A68AFC0-7221-45E0-E856-EB542F35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LIvE</a:t>
            </a:r>
            <a:r>
              <a:rPr lang="en-US" dirty="0"/>
              <a:t>-based localization[3]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/>
              <p:nvPr/>
            </p:nvSpPr>
            <p:spPr>
              <a:xfrm flipH="1">
                <a:off x="1828799" y="4899258"/>
                <a:ext cx="2044558" cy="655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𝑎𝑟𝑔𝑚𝑖𝑛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sz="1400" dirty="0">
                  <a:solidFill>
                    <a:schemeClr val="bg1"/>
                  </a:solidFill>
                </a:endParaRP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400" dirty="0">
                    <a:solidFill>
                      <a:schemeClr val="bg1"/>
                    </a:solidFill>
                  </a:rPr>
                  <a:t> (6)</a:t>
                </a:r>
              </a:p>
              <a:p>
                <a:pPr lvl="0"/>
                <a:endParaRPr lang="en-IN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28799" y="4899258"/>
                <a:ext cx="2044558" cy="655436"/>
              </a:xfrm>
              <a:prstGeom prst="rect">
                <a:avLst/>
              </a:prstGeom>
              <a:blipFill>
                <a:blip r:embed="rId11"/>
                <a:stretch>
                  <a:fillRect l="-299" t="-8411" r="-8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494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16E0E3-7DFE-C257-71C2-B4D615F1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18FFB-1023-50B5-BBFF-2791CAF0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2D48A-B2BE-3E77-D6E3-99AED7FD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15BCC0-6BC6-2E45-C0B3-927A90DD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9F9BB6-4E61-AD89-2ABE-3B2029ECAA6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62" y="1356189"/>
            <a:ext cx="6341000" cy="475756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CCFD0-F108-9D06-AD0E-217986A71FAA}"/>
              </a:ext>
            </a:extLst>
          </p:cNvPr>
          <p:cNvSpPr txBox="1"/>
          <p:nvPr/>
        </p:nvSpPr>
        <p:spPr>
          <a:xfrm>
            <a:off x="951313" y="6249302"/>
            <a:ext cx="580826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14:  Localization error for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0D473-DEFC-2941-6DA4-1D9A37A94A01}"/>
              </a:ext>
            </a:extLst>
          </p:cNvPr>
          <p:cNvSpPr txBox="1"/>
          <p:nvPr/>
        </p:nvSpPr>
        <p:spPr>
          <a:xfrm>
            <a:off x="7596878" y="3224087"/>
            <a:ext cx="4313360" cy="1653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Convergence starts around 9-16 sensors.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improvement in localization error after 16 sensors for the particular grid size.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9DB282-A6F8-C197-D933-400AD7C780AC}"/>
              </a:ext>
            </a:extLst>
          </p:cNvPr>
          <p:cNvSpPr/>
          <p:nvPr/>
        </p:nvSpPr>
        <p:spPr>
          <a:xfrm>
            <a:off x="6390526" y="3428999"/>
            <a:ext cx="708917" cy="302029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E13FA3B-8E1F-E0EC-35E7-98C0AD6577CA}"/>
              </a:ext>
            </a:extLst>
          </p:cNvPr>
          <p:cNvSpPr/>
          <p:nvPr/>
        </p:nvSpPr>
        <p:spPr>
          <a:xfrm>
            <a:off x="6390526" y="4099389"/>
            <a:ext cx="708917" cy="30202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313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Arial"/>
              </a:rPr>
              <a:t>RSS-based localization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42A6F-12E2-C0FD-DCF3-4ED0C4E07540}"/>
              </a:ext>
            </a:extLst>
          </p:cNvPr>
          <p:cNvSpPr txBox="1"/>
          <p:nvPr/>
        </p:nvSpPr>
        <p:spPr>
          <a:xfrm>
            <a:off x="10420952" y="3525774"/>
            <a:ext cx="1495123" cy="863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266018-7877-8AA8-E51B-2BC91FE9C240}"/>
              </a:ext>
            </a:extLst>
          </p:cNvPr>
          <p:cNvSpPr txBox="1"/>
          <p:nvPr/>
        </p:nvSpPr>
        <p:spPr>
          <a:xfrm>
            <a:off x="3253185" y="6256682"/>
            <a:ext cx="6949011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5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accuracy evaluation of the MSE and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485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2AA57-090F-E7C0-A937-474D03C1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71E62-F309-38C8-7128-D1441891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E30E1-4DBC-5464-8149-8EEAEB64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13C1FF-95BC-1EB7-4E90-0CE2ED811C4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7" y="1306761"/>
            <a:ext cx="6159462" cy="468124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41BA8AC-AE95-B559-449E-48219FFE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22B616-B7B0-EB03-C86C-1EC8DFC8727A}"/>
              </a:ext>
            </a:extLst>
          </p:cNvPr>
          <p:cNvSpPr/>
          <p:nvPr/>
        </p:nvSpPr>
        <p:spPr>
          <a:xfrm>
            <a:off x="6257714" y="3166712"/>
            <a:ext cx="759772" cy="26228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B2EA6A7-5A04-3995-51AD-3A4241224F80}"/>
              </a:ext>
            </a:extLst>
          </p:cNvPr>
          <p:cNvSpPr/>
          <p:nvPr/>
        </p:nvSpPr>
        <p:spPr>
          <a:xfrm>
            <a:off x="6257714" y="3846837"/>
            <a:ext cx="759772" cy="26228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4C9CFA-59BD-5331-3631-D86713DB4344}"/>
              </a:ext>
            </a:extLst>
          </p:cNvPr>
          <p:cNvSpPr/>
          <p:nvPr/>
        </p:nvSpPr>
        <p:spPr>
          <a:xfrm>
            <a:off x="6257714" y="4526962"/>
            <a:ext cx="759772" cy="2695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0B0FD-EE35-0500-B2AA-4065EB2D323C}"/>
              </a:ext>
            </a:extLst>
          </p:cNvPr>
          <p:cNvSpPr txBox="1"/>
          <p:nvPr/>
        </p:nvSpPr>
        <p:spPr>
          <a:xfrm rot="5400000">
            <a:off x="6453740" y="3850330"/>
            <a:ext cx="1809548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Limitations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E7A06-AC0F-AC89-0516-5F0D54366ECE}"/>
              </a:ext>
            </a:extLst>
          </p:cNvPr>
          <p:cNvSpPr txBox="1"/>
          <p:nvPr/>
        </p:nvSpPr>
        <p:spPr>
          <a:xfrm>
            <a:off x="7719461" y="2916173"/>
            <a:ext cx="4263992" cy="3026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Infeasible point problem with optimization constraints in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LIvE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.</a:t>
            </a:r>
            <a:endParaRPr lang="en-US" dirty="0">
              <a:solidFill>
                <a:prstClr val="black"/>
              </a:solidFill>
              <a:latin typeface="Arial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Trade-off between better localization accuracy (approx. 1-2 m) and complexity in solving non-linear constraints.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dirty="0">
                <a:solidFill>
                  <a:prstClr val="black"/>
                </a:solidFill>
                <a:latin typeface="Arial"/>
              </a:rPr>
              <a:t>So for ease of implementation in real time we accept such trade-off and use MSE for REM construction. 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064F0-478E-2BA9-E21B-0EA1A2379924}"/>
              </a:ext>
            </a:extLst>
          </p:cNvPr>
          <p:cNvSpPr txBox="1"/>
          <p:nvPr/>
        </p:nvSpPr>
        <p:spPr>
          <a:xfrm>
            <a:off x="208548" y="6063124"/>
            <a:ext cx="7025060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noProof="0" dirty="0">
                <a:solidFill>
                  <a:prstClr val="black"/>
                </a:solidFill>
                <a:latin typeface="Arial"/>
              </a:rPr>
              <a:t>6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Evaluation of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l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ocalization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accuracy of the MSE and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28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282869" y="3290633"/>
            <a:ext cx="1897937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972638" y="3771746"/>
            <a:ext cx="478485" cy="20435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497579" y="2239504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3426591" y="2577848"/>
            <a:ext cx="2070988" cy="151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808327" y="2965045"/>
            <a:ext cx="287673" cy="399775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42A6F-12E2-C0FD-DCF3-4ED0C4E07540}"/>
              </a:ext>
            </a:extLst>
          </p:cNvPr>
          <p:cNvSpPr txBox="1"/>
          <p:nvPr/>
        </p:nvSpPr>
        <p:spPr>
          <a:xfrm>
            <a:off x="10420952" y="3525774"/>
            <a:ext cx="1495123" cy="863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105F9-630A-6771-D8A9-71C67CED824A}"/>
              </a:ext>
            </a:extLst>
          </p:cNvPr>
          <p:cNvSpPr txBox="1"/>
          <p:nvPr/>
        </p:nvSpPr>
        <p:spPr>
          <a:xfrm>
            <a:off x="4226592" y="4915896"/>
            <a:ext cx="1441583" cy="690782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B15A83-8707-E71E-650E-14065C5DC4BE}"/>
              </a:ext>
            </a:extLst>
          </p:cNvPr>
          <p:cNvCxnSpPr/>
          <p:nvPr/>
        </p:nvCxnSpPr>
        <p:spPr>
          <a:xfrm>
            <a:off x="3413297" y="5216893"/>
            <a:ext cx="933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7E644E6-5ACF-9A08-D5A6-69E02C4A70BA}"/>
              </a:ext>
            </a:extLst>
          </p:cNvPr>
          <p:cNvSpPr/>
          <p:nvPr/>
        </p:nvSpPr>
        <p:spPr>
          <a:xfrm>
            <a:off x="6878857" y="3740054"/>
            <a:ext cx="535731" cy="2498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B690D-B397-A0DE-FCF0-0B901B8A020E}"/>
              </a:ext>
            </a:extLst>
          </p:cNvPr>
          <p:cNvSpPr txBox="1"/>
          <p:nvPr/>
        </p:nvSpPr>
        <p:spPr>
          <a:xfrm>
            <a:off x="7359730" y="3189690"/>
            <a:ext cx="1694043" cy="1449539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EAFBE-E4A7-2600-B640-EC39CC87F915}"/>
              </a:ext>
            </a:extLst>
          </p:cNvPr>
          <p:cNvSpPr txBox="1"/>
          <p:nvPr/>
        </p:nvSpPr>
        <p:spPr>
          <a:xfrm>
            <a:off x="9298004" y="3016165"/>
            <a:ext cx="892145" cy="788654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D964E5-E733-44FA-DABC-C3DED01B873A}"/>
              </a:ext>
            </a:extLst>
          </p:cNvPr>
          <p:cNvSpPr txBox="1"/>
          <p:nvPr/>
        </p:nvSpPr>
        <p:spPr>
          <a:xfrm>
            <a:off x="3552126" y="6249303"/>
            <a:ext cx="68765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17:  Employing use of OFDM  as a transmit signal for localization.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4C080C2F-12C3-6448-F201-E31EFCDC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292853"/>
            <a:ext cx="6844385" cy="664797"/>
          </a:xfrm>
        </p:spPr>
        <p:txBody>
          <a:bodyPr/>
          <a:lstStyle/>
          <a:p>
            <a:r>
              <a:rPr lang="en-US" dirty="0"/>
              <a:t>Extension of system model: OFDM transmit signal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089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CF0BE-8BAB-277E-C5CD-5CD20F1F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02037-02CF-A08E-75CA-ABF65417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4CA0-BD30-7AE4-5A77-CE295B65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D3B53D-F8A6-4C4B-072A-5CD6A53E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OFDM waveform generation and system parameters</a:t>
            </a:r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8C48212-138F-E154-73CF-51D51D41E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1824403"/>
              </p:ext>
            </p:extLst>
          </p:nvPr>
        </p:nvGraphicFramePr>
        <p:xfrm>
          <a:off x="0" y="2301678"/>
          <a:ext cx="5804036" cy="3320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7DD88F8-3850-87F0-5733-6F1E2973A0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51" y="2019351"/>
            <a:ext cx="6073215" cy="35240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0A9101-8311-CFCB-73A9-19329A5CD6B0}"/>
              </a:ext>
            </a:extLst>
          </p:cNvPr>
          <p:cNvSpPr txBox="1"/>
          <p:nvPr/>
        </p:nvSpPr>
        <p:spPr>
          <a:xfrm>
            <a:off x="7117678" y="5714314"/>
            <a:ext cx="455838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8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Generated OFDM waveform.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00CDC-0C56-53ED-822B-2AB44EA2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34800-4A0C-765A-D8DA-B5331D19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FD119-4833-E302-2801-12C6A7DD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86E5BD-021D-3F4C-0127-6A246A0D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4FE625-9F12-B837-0887-84294748F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6" y="1264043"/>
            <a:ext cx="6229465" cy="4672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C64324-F1F8-8F37-5F23-93E2459ED0DB}"/>
              </a:ext>
            </a:extLst>
          </p:cNvPr>
          <p:cNvSpPr txBox="1"/>
          <p:nvPr/>
        </p:nvSpPr>
        <p:spPr>
          <a:xfrm>
            <a:off x="1240441" y="6160498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9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accuracy for OFDM signal using MSE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CB509B7-698D-E826-8131-7962EACC4425}"/>
              </a:ext>
            </a:extLst>
          </p:cNvPr>
          <p:cNvSpPr/>
          <p:nvPr/>
        </p:nvSpPr>
        <p:spPr>
          <a:xfrm>
            <a:off x="6760396" y="3429000"/>
            <a:ext cx="921752" cy="332399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5CE85-7020-0302-A9E1-F8702CEE012A}"/>
              </a:ext>
            </a:extLst>
          </p:cNvPr>
          <p:cNvSpPr txBox="1"/>
          <p:nvPr/>
        </p:nvSpPr>
        <p:spPr>
          <a:xfrm>
            <a:off x="8075488" y="2987084"/>
            <a:ext cx="3739793" cy="12162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Convergence of localization error at 9 sensors.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Occurs as a result of high PAPR OFDM samples.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829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42A6F-12E2-C0FD-DCF3-4ED0C4E07540}"/>
              </a:ext>
            </a:extLst>
          </p:cNvPr>
          <p:cNvSpPr txBox="1"/>
          <p:nvPr/>
        </p:nvSpPr>
        <p:spPr>
          <a:xfrm>
            <a:off x="10420952" y="3525774"/>
            <a:ext cx="1495123" cy="863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7E644E6-5ACF-9A08-D5A6-69E02C4A70BA}"/>
              </a:ext>
            </a:extLst>
          </p:cNvPr>
          <p:cNvSpPr/>
          <p:nvPr/>
        </p:nvSpPr>
        <p:spPr>
          <a:xfrm>
            <a:off x="6878857" y="3740054"/>
            <a:ext cx="535731" cy="2498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B690D-B397-A0DE-FCF0-0B901B8A020E}"/>
              </a:ext>
            </a:extLst>
          </p:cNvPr>
          <p:cNvSpPr txBox="1"/>
          <p:nvPr/>
        </p:nvSpPr>
        <p:spPr>
          <a:xfrm>
            <a:off x="7414588" y="3164933"/>
            <a:ext cx="1694043" cy="1449539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EAFBE-E4A7-2600-B640-EC39CC87F915}"/>
              </a:ext>
            </a:extLst>
          </p:cNvPr>
          <p:cNvSpPr txBox="1"/>
          <p:nvPr/>
        </p:nvSpPr>
        <p:spPr>
          <a:xfrm>
            <a:off x="9298004" y="3016165"/>
            <a:ext cx="892145" cy="788654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D85A09-911C-B7EC-DDF2-9C7D1F56318F}"/>
              </a:ext>
            </a:extLst>
          </p:cNvPr>
          <p:cNvSpPr txBox="1"/>
          <p:nvPr/>
        </p:nvSpPr>
        <p:spPr>
          <a:xfrm>
            <a:off x="4263002" y="5645847"/>
            <a:ext cx="1378386" cy="576495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70AC0C-A6A2-C5EC-5ADF-6428F7E7D6EE}"/>
              </a:ext>
            </a:extLst>
          </p:cNvPr>
          <p:cNvSpPr txBox="1"/>
          <p:nvPr/>
        </p:nvSpPr>
        <p:spPr>
          <a:xfrm>
            <a:off x="3330553" y="6283293"/>
            <a:ext cx="685959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 Employing use of OFDM  as a transmit signal for localization.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itle 5">
            <a:extLst>
              <a:ext uri="{FF2B5EF4-FFF2-40B4-BE49-F238E27FC236}">
                <a16:creationId xmlns:a16="http://schemas.microsoft.com/office/drawing/2014/main" id="{16C56D41-8C81-3CBE-E723-31E86428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25" y="301625"/>
            <a:ext cx="6845300" cy="664797"/>
          </a:xfrm>
        </p:spPr>
        <p:txBody>
          <a:bodyPr/>
          <a:lstStyle/>
          <a:p>
            <a:r>
              <a:rPr lang="en-US" dirty="0"/>
              <a:t>Extension of system model: Correlated shadowing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287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95185-9219-343B-3DB3-3FCBF8BC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4D99B-3444-C9D7-6C4A-BC841BCA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EBFB-A9D4-E09F-854D-DDC40ADB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26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EB556EB-E440-5B87-466F-FA32A5E893E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Gudmundson model for correlated shadowing is given by the equation [9]: 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  <m:sup/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1800" dirty="0"/>
                  <a:t>                             (8)                         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sz="1800" dirty="0"/>
                  <a:t> System parameters used:</a:t>
                </a:r>
              </a:p>
              <a:p>
                <a:pPr lvl="8"/>
                <a:r>
                  <a:rPr lang="en-IN" sz="1800" dirty="0"/>
                  <a:t> Standard deviation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800" dirty="0"/>
                  <a:t> : [0, 4, 8] </a:t>
                </a:r>
                <a:r>
                  <a:rPr lang="en-IN" sz="1800" dirty="0" err="1"/>
                  <a:t>dB.</a:t>
                </a:r>
                <a:endParaRPr lang="en-IN" sz="1800" dirty="0"/>
              </a:p>
              <a:p>
                <a:pPr lvl="8"/>
                <a:r>
                  <a:rPr lang="en-IN" sz="1800" dirty="0"/>
                  <a:t>Correlation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sub>
                    </m:sSub>
                  </m:oMath>
                </a14:m>
                <a:r>
                  <a:rPr lang="en-IN" sz="1800" dirty="0"/>
                  <a:t> : 8 m [7].  </a:t>
                </a:r>
              </a:p>
              <a:p>
                <a:pPr marL="1260000" lvl="8" indent="0">
                  <a:buNone/>
                </a:pPr>
                <a:endParaRPr lang="en-IN" sz="1800" dirty="0"/>
              </a:p>
              <a:p>
                <a:pPr marL="1260000" lvl="8" indent="0">
                  <a:buNone/>
                </a:pPr>
                <a:endParaRPr lang="en-IN" sz="1800" dirty="0"/>
              </a:p>
              <a:p>
                <a:pPr marL="1260000" lvl="8" indent="0">
                  <a:buNone/>
                </a:pPr>
                <a:endParaRPr lang="en-IN" sz="1800" dirty="0"/>
              </a:p>
              <a:p>
                <a:pPr marL="1260000" lvl="8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EB556EB-E440-5B87-466F-FA32A5E89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148" t="-1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A07635F0-14C6-56B1-64EF-C3AEBCC1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Extension of system model: Correlated shadowing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478FC-E4C1-4435-82FA-EDF2A5E95CED}"/>
              </a:ext>
            </a:extLst>
          </p:cNvPr>
          <p:cNvSpPr txBox="1"/>
          <p:nvPr/>
        </p:nvSpPr>
        <p:spPr>
          <a:xfrm>
            <a:off x="3369924" y="1959134"/>
            <a:ext cx="1202077" cy="1874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covariance matrix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ECD94-D135-1B76-64A8-784EBD99B084}"/>
              </a:ext>
            </a:extLst>
          </p:cNvPr>
          <p:cNvSpPr txBox="1"/>
          <p:nvPr/>
        </p:nvSpPr>
        <p:spPr>
          <a:xfrm>
            <a:off x="6096000" y="1959134"/>
            <a:ext cx="1417834" cy="3905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Distance between the sensors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27010F-9108-D259-4884-8DE19B511BEC}"/>
              </a:ext>
            </a:extLst>
          </p:cNvPr>
          <p:cNvCxnSpPr>
            <a:endCxn id="9" idx="1"/>
          </p:cNvCxnSpPr>
          <p:nvPr/>
        </p:nvCxnSpPr>
        <p:spPr>
          <a:xfrm flipV="1">
            <a:off x="5876818" y="2154412"/>
            <a:ext cx="219182" cy="19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3755D3-7032-144B-3C21-E355B94558C5}"/>
              </a:ext>
            </a:extLst>
          </p:cNvPr>
          <p:cNvCxnSpPr/>
          <p:nvPr/>
        </p:nvCxnSpPr>
        <p:spPr>
          <a:xfrm flipV="1">
            <a:off x="3852809" y="2146558"/>
            <a:ext cx="0" cy="203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74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6FB6D-901E-6CC9-D154-92CCD1C8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DFAA-CDAC-E827-5C70-70490D64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C195C-85F7-DB0D-0D34-9D34D3A7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665578-090A-AC94-BD91-E81033F9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2BCCF-1DA4-385C-EA9C-5D76F8D9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38" y="1313862"/>
            <a:ext cx="6187017" cy="46402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2A283A-8DCB-CED1-88A4-8229BFC48222}"/>
              </a:ext>
            </a:extLst>
          </p:cNvPr>
          <p:cNvSpPr txBox="1"/>
          <p:nvPr/>
        </p:nvSpPr>
        <p:spPr>
          <a:xfrm>
            <a:off x="719656" y="6034068"/>
            <a:ext cx="644170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2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 Localization error using MSE method with standard deviation of shadowing [0,4,8]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dB.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7514C-32B8-BB0D-5479-C5D877018A3F}"/>
                  </a:ext>
                </a:extLst>
              </p:cNvPr>
              <p:cNvSpPr txBox="1"/>
              <p:nvPr/>
            </p:nvSpPr>
            <p:spPr>
              <a:xfrm>
                <a:off x="7478342" y="2090424"/>
                <a:ext cx="4197721" cy="42483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marR="0" indent="-28575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Localization error increases as shadowing standard deviation increases.</a:t>
                </a:r>
              </a:p>
              <a:p>
                <a:pPr marL="285750" indent="-285750">
                  <a:lnSpc>
                    <a:spcPct val="1100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Shadowing correlations in sensor node network affects localization error depending on correlations between the nodes closer to each other.</a:t>
                </a:r>
              </a:p>
              <a:p>
                <a:pPr marL="285750" indent="-285750">
                  <a:lnSpc>
                    <a:spcPct val="1100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Increase in localization error by 1.1 m for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 = 4 dB and approximately 5 m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 8 </a:t>
                </a:r>
                <a:r>
                  <a:rPr lang="en-US" dirty="0" err="1">
                    <a:solidFill>
                      <a:prstClr val="black"/>
                    </a:solidFill>
                    <a:latin typeface="Arial"/>
                  </a:rPr>
                  <a:t>dB.</a:t>
                </a:r>
                <a:r>
                  <a:rPr lang="en-US" dirty="0">
                    <a:solidFill>
                      <a:prstClr val="black"/>
                    </a:solidFill>
                    <a:latin typeface="Arial"/>
                  </a:rPr>
                  <a:t> </a:t>
                </a:r>
              </a:p>
              <a:p>
                <a:pPr marL="285750" marR="0" indent="-28575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endParaRPr lang="en-US" dirty="0">
                  <a:solidFill>
                    <a:prstClr val="black"/>
                  </a:solidFill>
                  <a:latin typeface="Arial"/>
                </a:endParaRPr>
              </a:p>
              <a:p>
                <a:pPr marR="0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tabLst/>
                </a:pPr>
                <a:endParaRPr kumimoji="0" lang="en-I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7514C-32B8-BB0D-5479-C5D877018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342" y="2090424"/>
                <a:ext cx="4197721" cy="4248342"/>
              </a:xfrm>
              <a:prstGeom prst="rect">
                <a:avLst/>
              </a:prstGeom>
              <a:blipFill>
                <a:blip r:embed="rId3"/>
                <a:stretch>
                  <a:fillRect l="-3198" t="-1722" r="-47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241584ED-ED34-D6F9-71F0-A4BCC1669688}"/>
              </a:ext>
            </a:extLst>
          </p:cNvPr>
          <p:cNvSpPr/>
          <p:nvPr/>
        </p:nvSpPr>
        <p:spPr>
          <a:xfrm>
            <a:off x="6339155" y="2876764"/>
            <a:ext cx="595901" cy="332399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08C255-94CA-B475-5EEF-CA75417EA554}"/>
              </a:ext>
            </a:extLst>
          </p:cNvPr>
          <p:cNvSpPr/>
          <p:nvPr/>
        </p:nvSpPr>
        <p:spPr>
          <a:xfrm>
            <a:off x="6339154" y="3729847"/>
            <a:ext cx="595901" cy="332399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773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construction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2001608" y="3771746"/>
            <a:ext cx="449515" cy="20079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col</a:t>
            </a:r>
            <a:r>
              <a:rPr lang="en-US" sz="1000" dirty="0">
                <a:solidFill>
                  <a:schemeClr val="tx1"/>
                </a:solidFill>
                <a:latin typeface="Arial"/>
              </a:rPr>
              <a:t>lection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91688" y="3789070"/>
            <a:ext cx="500514" cy="24981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401601" y="3215739"/>
            <a:ext cx="1596853" cy="1397442"/>
          </a:xfrm>
          <a:prstGeom prst="flowChartDecis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38107" y="3352544"/>
            <a:ext cx="459897" cy="390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6F2E73-DCFA-5918-741E-A355B62957D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426591" y="2593025"/>
            <a:ext cx="1" cy="4656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153291-77F6-D57F-4A4D-9784E04F8FC4}"/>
              </a:ext>
            </a:extLst>
          </p:cNvPr>
          <p:cNvCxnSpPr>
            <a:cxnSpLocks/>
            <a:endCxn id="54" idx="2"/>
          </p:cNvCxnSpPr>
          <p:nvPr/>
        </p:nvCxnSpPr>
        <p:spPr>
          <a:xfrm>
            <a:off x="3426591" y="2575707"/>
            <a:ext cx="2184937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519869-075D-87FF-47E0-760134EAA96A}"/>
              </a:ext>
            </a:extLst>
          </p:cNvPr>
          <p:cNvSpPr/>
          <p:nvPr/>
        </p:nvSpPr>
        <p:spPr>
          <a:xfrm>
            <a:off x="5916278" y="2965045"/>
            <a:ext cx="287673" cy="39977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CC2BD-2A81-72AB-E4EE-14E98D265215}"/>
              </a:ext>
            </a:extLst>
          </p:cNvPr>
          <p:cNvSpPr txBox="1"/>
          <p:nvPr/>
        </p:nvSpPr>
        <p:spPr>
          <a:xfrm>
            <a:off x="10375975" y="5153087"/>
            <a:ext cx="1598300" cy="998739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24021-CCBC-DB6A-D662-A2F1F8CD893B}"/>
              </a:ext>
            </a:extLst>
          </p:cNvPr>
          <p:cNvSpPr txBox="1"/>
          <p:nvPr/>
        </p:nvSpPr>
        <p:spPr>
          <a:xfrm>
            <a:off x="3426591" y="6277477"/>
            <a:ext cx="6775604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accuracy evaluation of the MSE and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113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545DB-8F50-5E43-F146-D9BA53BD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57D9C-7A69-B93F-A95E-013A9208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88BB-529C-C8FB-5D36-99ED42AA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8CE2F7-86DC-E771-9C00-B7C8394F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flow diagram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8363BC-A19A-7B53-55DA-198E878D7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661" y="1366285"/>
            <a:ext cx="9051289" cy="46404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F35448-2D57-9446-B700-6A4BE0199757}"/>
              </a:ext>
            </a:extLst>
          </p:cNvPr>
          <p:cNvSpPr txBox="1"/>
          <p:nvPr/>
        </p:nvSpPr>
        <p:spPr>
          <a:xfrm>
            <a:off x="4236053" y="6070889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23: REM data flow and model [4].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288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92FEE-1A99-661A-C6EF-75FCE9BB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C2878-821E-DF32-FDDD-342F82DD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3CC4-8B2F-FB55-69AE-C9935842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9E9471-B995-8524-DF48-9298DCBE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estimated power maps or REM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B6F55-1698-9FC1-E9AF-75D42DDB6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92" y="1453495"/>
            <a:ext cx="5602357" cy="42017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0D6CCB-7693-A22D-9F7F-FF81C3FC34DC}"/>
              </a:ext>
            </a:extLst>
          </p:cNvPr>
          <p:cNvSpPr txBox="1"/>
          <p:nvPr/>
        </p:nvSpPr>
        <p:spPr>
          <a:xfrm>
            <a:off x="3083230" y="5875266"/>
            <a:ext cx="625593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24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E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stimated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REM using the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results 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localization from MSE method in a grid of size (100 m, 100 m) with and without shadowing.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4D9F93-1E56-4869-8987-E312917110A8}"/>
              </a:ext>
            </a:extLst>
          </p:cNvPr>
          <p:cNvSpPr txBox="1">
            <a:spLocks/>
          </p:cNvSpPr>
          <p:nvPr/>
        </p:nvSpPr>
        <p:spPr>
          <a:xfrm>
            <a:off x="518317" y="687598"/>
            <a:ext cx="6844385" cy="249812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without shadowing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4D51B-B3DA-8BF5-A97F-19A518AF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12" y="1503229"/>
            <a:ext cx="5469732" cy="410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77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E9396-D0AC-04EA-63C0-02E177FC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E81A-1DB1-BE86-F715-741BF1B9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437E-F531-8E57-0E38-07C10E4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CBEA-A748-2678-28E3-BDA6B3719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Comparing and evaluating the localization accuracy of MSE and </a:t>
            </a:r>
            <a:r>
              <a:rPr lang="en-US" sz="1800" dirty="0" err="1"/>
              <a:t>LIvE</a:t>
            </a:r>
            <a:r>
              <a:rPr lang="en-US" sz="1800" dirty="0"/>
              <a:t> methods.</a:t>
            </a:r>
          </a:p>
          <a:p>
            <a:pPr marL="52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Using OFDM signal as a transmit signal and evaluating performance of MSE method.</a:t>
            </a:r>
          </a:p>
          <a:p>
            <a:pPr marL="52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/>
              <a:t>Using correlated shadowing and evaluating the localization error using varying standard deviation of shadowing.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 Constructing radio environment map(REM) from results of  MSE localization method.</a:t>
            </a:r>
          </a:p>
          <a:p>
            <a:pPr>
              <a:lnSpc>
                <a:spcPct val="200000"/>
              </a:lnSpc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6D1CC7-184A-9482-1B74-8E4F87B8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thesis</a:t>
            </a:r>
            <a:endParaRPr lang="en-IN" dirty="0"/>
          </a:p>
        </p:txBody>
      </p:sp>
      <p:pic>
        <p:nvPicPr>
          <p:cNvPr id="6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949EB331-6699-0ECB-D9CF-B721A0003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63" y="1466995"/>
            <a:ext cx="649078" cy="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80B0441C-C2A2-7236-9347-C3BBA7F49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24" y="2209198"/>
            <a:ext cx="649078" cy="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2A7716B3-B7EE-463B-B65B-BEB72F170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24" y="2891022"/>
            <a:ext cx="649078" cy="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A2870156-269C-8DCA-4AC3-4362CF29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63" y="3941537"/>
            <a:ext cx="649078" cy="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900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35FDA-1A50-8200-B014-745292B9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2FAF8-7BCC-601E-884F-E1609813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4DAD-B93D-F232-6BED-22F3BC81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32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CE5D731A-02C0-8FEE-8509-25832310F6D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+mj-lt"/>
                  </a:rPr>
                  <a:t>In our specific sensor configuration use case we achieve localization error convergence at 9 sensor nodes and we chose MSE based on faster simulation result.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+mj-lt"/>
                  </a:rPr>
                  <a:t>Localization error using OFDM converges at 9 sensor nodes configuration as a result of high PAPR of OFDM. </a:t>
                </a:r>
              </a:p>
              <a:p>
                <a:pPr marL="285750" indent="-285750">
                  <a:lnSpc>
                    <a:spcPct val="1100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+mj-lt"/>
                  </a:rPr>
                  <a:t>Shadowing correlations between the sensor nodes leads to </a:t>
                </a:r>
                <a:r>
                  <a:rPr lang="en-US" sz="1800" dirty="0">
                    <a:solidFill>
                      <a:prstClr val="black"/>
                    </a:solidFill>
                    <a:latin typeface="Arial"/>
                  </a:rPr>
                  <a:t>increase in localization error by 1.1 m for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  <a:latin typeface="Arial"/>
                  </a:rPr>
                  <a:t>= 4 dB and approximately 5 m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  <a:latin typeface="Arial"/>
                  </a:rPr>
                  <a:t> = 8 </a:t>
                </a:r>
                <a:r>
                  <a:rPr lang="en-US" sz="1800" dirty="0" err="1">
                    <a:solidFill>
                      <a:prstClr val="black"/>
                    </a:solidFill>
                    <a:latin typeface="Arial"/>
                  </a:rPr>
                  <a:t>dB.</a:t>
                </a:r>
                <a:r>
                  <a:rPr lang="en-US" sz="1800" dirty="0">
                    <a:solidFill>
                      <a:prstClr val="black"/>
                    </a:solidFill>
                    <a:latin typeface="Arial"/>
                  </a:rPr>
                  <a:t> </a:t>
                </a:r>
              </a:p>
              <a:p>
                <a:pPr>
                  <a:lnSpc>
                    <a:spcPct val="200000"/>
                  </a:lnSpc>
                </a:pPr>
                <a:endParaRPr lang="en-US" sz="1800" dirty="0">
                  <a:latin typeface="+mj-lt"/>
                </a:endParaRPr>
              </a:p>
            </p:txBody>
          </p:sp>
        </mc:Choice>
        <mc:Fallback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CE5D731A-02C0-8FEE-8509-25832310F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>
            <a:extLst>
              <a:ext uri="{FF2B5EF4-FFF2-40B4-BE49-F238E27FC236}">
                <a16:creationId xmlns:a16="http://schemas.microsoft.com/office/drawing/2014/main" id="{7AF70922-519F-2C4F-D1B0-0A48E5A6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2398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8D637-C674-C580-E291-78028F25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D30A5-3E49-7B55-7453-49D82152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540E0-D484-FB81-BF20-004C860E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3D8D0-80CE-3412-6F4F-BE2675C7C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Effect of fast fading, change of sensor placement, multiple transmitters and channel models to get more out of localization methods.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Finding a robust algorithm for localization that also suffices mobility of transmitter or sensor nodes and accuracy to the resolution of 0.1 m for V2X and autonomous driving cases.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Constructing REM with consideration of sensors power levels. 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23E4D4-DE3B-1A38-177A-2E1ED707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552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D7DEF-925C-C5E1-FCD1-DB16C8CD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49BBC-5593-80A2-4036-F100D4D0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55FF-AD8E-B9DB-D690-9DA1E515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EA32A-55C8-01C4-695F-1652D0E67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71648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Ezzati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Nematollah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Hasan Taheri, and Tuna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"Optimised sensor network for transmitter localisation and radio environment mapping."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IET Communications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10.16 (2016): 2170-2178. </a:t>
            </a:r>
            <a:r>
              <a:rPr lang="en-IN" b="0" i="0" u="none" strike="noStrike" baseline="0" dirty="0">
                <a:latin typeface="+mj-lt"/>
              </a:rPr>
              <a:t>Location estimation-based radio environment map construction in fading channels.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Yilmaz,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Huseyin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and Tuna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"Location estimation‐based radio environment map construction in fading channels."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Wireless communications and mobile computing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15.3 (2015): 561-570.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Yilmaz, H.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et al. "Radio environment map as enabler for practical cognitive radio networks."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IEEE Communications Magazine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51.12 (2013): 162-169.</a:t>
            </a:r>
            <a:endParaRPr lang="en-IN" dirty="0">
              <a:solidFill>
                <a:srgbClr val="222222"/>
              </a:solidFill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Phillips, Caleb, et al. "Practical radio environment mapping with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geostatistics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2012 IEEE International Symposium on Dynamic Spectrum Access Networks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IEEE, 2012.</a:t>
            </a:r>
            <a:endParaRPr lang="en-IN" dirty="0">
              <a:solidFill>
                <a:srgbClr val="222222"/>
              </a:solidFill>
              <a:effectLst/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Pervasive and Mobile Computing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pPr marL="457200" indent="-457200" algn="l">
              <a:buFont typeface="+mj-lt"/>
              <a:buAutoNum type="arabicPeriod"/>
            </a:pPr>
            <a:endParaRPr lang="en-IN" sz="1800" b="0" i="0" u="none" strike="noStrike" baseline="0" dirty="0">
              <a:solidFill>
                <a:srgbClr val="222222"/>
              </a:solidFill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232A31-2645-F5C5-7FB8-436BC494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721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AFE33-1B7F-D2A6-A4BA-9133F2D6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9F2D9-D99D-0B2E-1C10-8DD72D4D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32A0-9266-2174-50E3-8280FCEF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A72CB-93FE-B4A0-AB5F-4A8B20142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Pervasive            and Mobile Computing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De Almeida, Ivo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Bizon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 Franco, et al. "Blind transmitter localization in wireless sensor networks: A deep learning approach." 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2021 IEEE 32nd Annual International Symposium on Personal, Indoor and Mobile Radio Communications (PIMRC)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. IEEE, 2021.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Turkmen, H.,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Solaija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, M. S. J., Furqan, H. M., &amp; Arslan, H. (2020). Generalized Radio Environment Monitoring for Next Generation Wireless Networks. </a:t>
            </a:r>
            <a:r>
              <a:rPr lang="en-IN" i="1" dirty="0" err="1">
                <a:solidFill>
                  <a:srgbClr val="222222"/>
                </a:solidFill>
                <a:effectLst/>
                <a:latin typeface="+mj-lt"/>
              </a:rPr>
              <a:t>arXiv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 preprint arXiv:2008.06203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Kulkarni, K., Franchi, N.,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Fettweis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 (2019, February). Real-time cooperative spectrum sensing: Reliable localization of unknown interferers in shared spectrum.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SCC 2019; 12th International ITG Conference on Systems, Communications and Coding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1-6). VDE.</a:t>
            </a:r>
            <a:endParaRPr lang="en-IN" i="0" dirty="0">
              <a:solidFill>
                <a:srgbClr val="222222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 startAt="6"/>
            </a:pPr>
            <a:endParaRPr lang="en-IN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6D2E5B-1386-1AF2-F710-23ED3D2C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22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9D9E-E40C-F76F-531F-F5022135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152001"/>
            <a:ext cx="11157743" cy="553998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218DF-4893-F315-5D91-AC34D5D2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151F-1944-594E-849F-BF838536C41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C939F-13A5-EF50-4FBE-EAAA6304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BB2DA-55B4-BA65-61BD-A7F88728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019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𝑀𝐶𝐷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𝑁𝑀𝐶𝐷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dirty="0"/>
                  <a:t>  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      </a:t>
                </a:r>
              </a:p>
              <a:p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400" dirty="0">
                    <a:latin typeface="+mj-lt"/>
                  </a:rPr>
                  <a:t>Which becomes of the form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i="1" dirty="0">
                    <a:latin typeface="+mj-lt"/>
                  </a:rPr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 t="-1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905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19.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  <a:blipFill>
                <a:blip r:embed="rId2"/>
                <a:stretch>
                  <a:fillRect l="-874" t="-10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310655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Philosophische Fakultät und Fachbereich Theologie">
  <a:themeElements>
    <a:clrScheme name="FAU - Orange">
      <a:dk1>
        <a:sysClr val="windowText" lastClr="000000"/>
      </a:dk1>
      <a:lt1>
        <a:srgbClr val="FFFFFF"/>
      </a:lt1>
      <a:dk2>
        <a:srgbClr val="FDB735"/>
      </a:dk2>
      <a:lt2>
        <a:srgbClr val="FFFFFF"/>
      </a:lt2>
      <a:accent1>
        <a:srgbClr val="7F7F7F"/>
      </a:accent1>
      <a:accent2>
        <a:srgbClr val="963B2F"/>
      </a:accent2>
      <a:accent3>
        <a:srgbClr val="E46D41"/>
      </a:accent3>
      <a:accent4>
        <a:srgbClr val="FDB735"/>
      </a:accent4>
      <a:accent5>
        <a:srgbClr val="EEDBAC"/>
      </a:accent5>
      <a:accent6>
        <a:srgbClr val="C7C7C7"/>
      </a:accent6>
      <a:hlink>
        <a:srgbClr val="E46D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U - Rechts- und Wirtschaftswissenschaftliche Fakultät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U - Medizinische Fakultät">
  <a:themeElements>
    <a:clrScheme name="FAU - Blau">
      <a:dk1>
        <a:sysClr val="windowText" lastClr="000000"/>
      </a:dk1>
      <a:lt1>
        <a:srgbClr val="FFFFFF"/>
      </a:lt1>
      <a:dk2>
        <a:srgbClr val="18B4F1"/>
      </a:dk2>
      <a:lt2>
        <a:srgbClr val="FFFFFF"/>
      </a:lt2>
      <a:accent1>
        <a:srgbClr val="7F7F7F"/>
      </a:accent1>
      <a:accent2>
        <a:srgbClr val="003E61"/>
      </a:accent2>
      <a:accent3>
        <a:srgbClr val="005287"/>
      </a:accent3>
      <a:accent4>
        <a:srgbClr val="18B4F1"/>
      </a:accent4>
      <a:accent5>
        <a:srgbClr val="9CC9E4"/>
      </a:accent5>
      <a:accent6>
        <a:srgbClr val="C7C7C7"/>
      </a:accent6>
      <a:hlink>
        <a:srgbClr val="005287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U - Naturwissenschaftliche Fakultät">
  <a:themeElements>
    <a:clrScheme name="FAU - Grün">
      <a:dk1>
        <a:sysClr val="windowText" lastClr="000000"/>
      </a:dk1>
      <a:lt1>
        <a:srgbClr val="FFFFFF"/>
      </a:lt1>
      <a:dk2>
        <a:srgbClr val="7BB725"/>
      </a:dk2>
      <a:lt2>
        <a:srgbClr val="FFFFFF"/>
      </a:lt2>
      <a:accent1>
        <a:srgbClr val="7F7F7F"/>
      </a:accent1>
      <a:accent2>
        <a:srgbClr val="14462D"/>
      </a:accent2>
      <a:accent3>
        <a:srgbClr val="266141"/>
      </a:accent3>
      <a:accent4>
        <a:srgbClr val="7BB725"/>
      </a:accent4>
      <a:accent5>
        <a:srgbClr val="B0CCBF"/>
      </a:accent5>
      <a:accent6>
        <a:srgbClr val="C7C7C7"/>
      </a:accent6>
      <a:hlink>
        <a:srgbClr val="2661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fb85ab14-7e8c-4c52-9b70-946b4c29b102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484bbf3a-33cc-4cbe-8ce2-0ccc6fd65326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34858</TotalTime>
  <Words>2245</Words>
  <Application>Microsoft Office PowerPoint</Application>
  <PresentationFormat>Widescreen</PresentationFormat>
  <Paragraphs>398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Cambria Math</vt:lpstr>
      <vt:lpstr>Symbol</vt:lpstr>
      <vt:lpstr>Univers-Black</vt:lpstr>
      <vt:lpstr>Wingdings</vt:lpstr>
      <vt:lpstr>FAU - Philosophische Fakultät und Fachbereich Theologie</vt:lpstr>
      <vt:lpstr>FAU - Rechts- und Wirtschaftswissenschaftliche Fakultät</vt:lpstr>
      <vt:lpstr>FAU - Medizinische Fakultät</vt:lpstr>
      <vt:lpstr>FAU - Naturwissenschaftliche Fakultät</vt:lpstr>
      <vt:lpstr>FAU - Technische Fakultät</vt:lpstr>
      <vt:lpstr>Master Thesis: RSS-based localization  using distributed spectrum sensing for 5G networks</vt:lpstr>
      <vt:lpstr>Motivation and objective</vt:lpstr>
      <vt:lpstr>RSS as a promising technology for localization</vt:lpstr>
      <vt:lpstr>Radio environment map (REM) [1],[2]</vt:lpstr>
      <vt:lpstr>REM applications </vt:lpstr>
      <vt:lpstr>Goals of the thesis</vt:lpstr>
      <vt:lpstr>Methodology and overall process</vt:lpstr>
      <vt:lpstr>Dedicated sensor network </vt:lpstr>
      <vt:lpstr>System model and parameter setting</vt:lpstr>
      <vt:lpstr>System Model [1],[2]    </vt:lpstr>
      <vt:lpstr>System model parameters</vt:lpstr>
      <vt:lpstr>RSS measurement collection</vt:lpstr>
      <vt:lpstr>Collection of RSS measurements </vt:lpstr>
      <vt:lpstr>MSE method for localization</vt:lpstr>
      <vt:lpstr>MSE-based localization[1]</vt:lpstr>
      <vt:lpstr>Simulation result</vt:lpstr>
      <vt:lpstr>LIvE method for localization</vt:lpstr>
      <vt:lpstr>LIvE-based localization[3]</vt:lpstr>
      <vt:lpstr>Simulation result</vt:lpstr>
      <vt:lpstr>RSS-based localization</vt:lpstr>
      <vt:lpstr>Evaluation</vt:lpstr>
      <vt:lpstr>Extension of system model: OFDM transmit signal</vt:lpstr>
      <vt:lpstr>OFDM waveform generation and system parameters</vt:lpstr>
      <vt:lpstr>Simulation result</vt:lpstr>
      <vt:lpstr>Extension of system model: Correlated shadowing</vt:lpstr>
      <vt:lpstr>Extension of system model: Correlated shadowing</vt:lpstr>
      <vt:lpstr>Simulation results</vt:lpstr>
      <vt:lpstr>REM construction</vt:lpstr>
      <vt:lpstr>REM flow diagram</vt:lpstr>
      <vt:lpstr>True and estimated power maps or REM</vt:lpstr>
      <vt:lpstr>Goals of the thesis</vt:lpstr>
      <vt:lpstr>Conclusion</vt:lpstr>
      <vt:lpstr>Future Work</vt:lpstr>
      <vt:lpstr>References</vt:lpstr>
      <vt:lpstr>References</vt:lpstr>
      <vt:lpstr>Thank you for your attention!</vt:lpstr>
      <vt:lpstr>Appendix 1</vt:lpstr>
      <vt:lpstr>Appendix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aakarsh dhariwal</cp:lastModifiedBy>
  <cp:revision>262</cp:revision>
  <dcterms:created xsi:type="dcterms:W3CDTF">2021-11-18T07:49:57Z</dcterms:created>
  <dcterms:modified xsi:type="dcterms:W3CDTF">2023-10-19T11:50:47Z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